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Lst>
  <p:sldSz cx="15113000" cy="21374100"/>
  <p:notesSz cx="6858000" cy="9144000"/>
  <p:embeddedFontLst>
    <p:embeddedFont>
      <p:font typeface="Lucida Bright" panose="02040602050505020304" pitchFamily="18" charset="0"/>
      <p:regular r:id="rId3"/>
      <p:bold r:id="rId4"/>
      <p:italic r:id="rId5"/>
      <p:boldItalic r:id="rId6"/>
    </p:embeddedFont>
    <p:embeddedFont>
      <p:font typeface="Lucida Sans Unicode" panose="020B0602030504020204" pitchFamily="34" charset="0"/>
      <p:regular r:id="rId7"/>
    </p:embeddedFont>
    <p:embeddedFont>
      <p:font typeface="Tahoma" panose="020B0604030504040204" pitchFamily="34" charset="0"/>
      <p:regular r:id="rId8"/>
      <p:bold r:id="rId9"/>
    </p:embeddedFont>
    <p:embeddedFont>
      <p:font typeface="Tahoma Bold" panose="020B0804030504040204" pitchFamily="34" charset="0"/>
      <p:regular r:id="rId10"/>
      <p:bold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4E40"/>
    <a:srgbClr val="F4BB66"/>
    <a:srgbClr val="A56730"/>
    <a:srgbClr val="D1AD89"/>
    <a:srgbClr val="E0AB7A"/>
    <a:srgbClr val="B57363"/>
    <a:srgbClr val="573229"/>
    <a:srgbClr val="DEC09A"/>
    <a:srgbClr val="B08E62"/>
    <a:srgbClr val="D4B6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4" d="100"/>
          <a:sy n="44" d="100"/>
        </p:scale>
        <p:origin x="1096" y="-34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tableStyles" Target="tableStyles.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ak Yazbek" userId="131de4e4151932d3" providerId="LiveId" clId="{946E0027-2F01-4B22-AB76-E55C9E0F896D}"/>
    <pc:docChg chg="undo redo custSel modSld">
      <pc:chgData name="Malak Yazbek" userId="131de4e4151932d3" providerId="LiveId" clId="{946E0027-2F01-4B22-AB76-E55C9E0F896D}" dt="2025-08-31T18:03:03.239" v="142" actId="14100"/>
      <pc:docMkLst>
        <pc:docMk/>
      </pc:docMkLst>
      <pc:sldChg chg="addSp modSp mod">
        <pc:chgData name="Malak Yazbek" userId="131de4e4151932d3" providerId="LiveId" clId="{946E0027-2F01-4B22-AB76-E55C9E0F896D}" dt="2025-08-31T18:03:03.239" v="142" actId="14100"/>
        <pc:sldMkLst>
          <pc:docMk/>
          <pc:sldMk cId="0" sldId="258"/>
        </pc:sldMkLst>
        <pc:spChg chg="mod">
          <ac:chgData name="Malak Yazbek" userId="131de4e4151932d3" providerId="LiveId" clId="{946E0027-2F01-4B22-AB76-E55C9E0F896D}" dt="2025-08-31T17:47:47.222" v="108" actId="1076"/>
          <ac:spMkLst>
            <pc:docMk/>
            <pc:sldMk cId="0" sldId="258"/>
            <ac:spMk id="35" creationId="{00000000-0000-0000-0000-000000000000}"/>
          </ac:spMkLst>
        </pc:spChg>
        <pc:spChg chg="mod">
          <ac:chgData name="Malak Yazbek" userId="131de4e4151932d3" providerId="LiveId" clId="{946E0027-2F01-4B22-AB76-E55C9E0F896D}" dt="2025-08-31T17:47:47.222" v="108" actId="1076"/>
          <ac:spMkLst>
            <pc:docMk/>
            <pc:sldMk cId="0" sldId="258"/>
            <ac:spMk id="36" creationId="{00000000-0000-0000-0000-000000000000}"/>
          </ac:spMkLst>
        </pc:spChg>
        <pc:spChg chg="mod">
          <ac:chgData name="Malak Yazbek" userId="131de4e4151932d3" providerId="LiveId" clId="{946E0027-2F01-4B22-AB76-E55C9E0F896D}" dt="2025-08-31T17:47:47.222" v="108" actId="1076"/>
          <ac:spMkLst>
            <pc:docMk/>
            <pc:sldMk cId="0" sldId="258"/>
            <ac:spMk id="37" creationId="{00000000-0000-0000-0000-000000000000}"/>
          </ac:spMkLst>
        </pc:spChg>
        <pc:spChg chg="mod">
          <ac:chgData name="Malak Yazbek" userId="131de4e4151932d3" providerId="LiveId" clId="{946E0027-2F01-4B22-AB76-E55C9E0F896D}" dt="2025-08-31T17:47:47.222" v="108" actId="1076"/>
          <ac:spMkLst>
            <pc:docMk/>
            <pc:sldMk cId="0" sldId="258"/>
            <ac:spMk id="38" creationId="{00000000-0000-0000-0000-000000000000}"/>
          </ac:spMkLst>
        </pc:spChg>
        <pc:spChg chg="mod">
          <ac:chgData name="Malak Yazbek" userId="131de4e4151932d3" providerId="LiveId" clId="{946E0027-2F01-4B22-AB76-E55C9E0F896D}" dt="2025-08-31T18:03:03.239" v="142" actId="14100"/>
          <ac:spMkLst>
            <pc:docMk/>
            <pc:sldMk cId="0" sldId="258"/>
            <ac:spMk id="47" creationId="{99DC58A3-9F9E-0549-6087-F49CAD7DF666}"/>
          </ac:spMkLst>
        </pc:spChg>
        <pc:grpChg chg="mod">
          <ac:chgData name="Malak Yazbek" userId="131de4e4151932d3" providerId="LiveId" clId="{946E0027-2F01-4B22-AB76-E55C9E0F896D}" dt="2025-08-31T17:47:47.222" v="108" actId="1076"/>
          <ac:grpSpMkLst>
            <pc:docMk/>
            <pc:sldMk cId="0" sldId="258"/>
            <ac:grpSpMk id="39" creationId="{2A0067F0-96E0-B930-656B-40518C8119D4}"/>
          </ac:grpSpMkLst>
        </pc:grpChg>
        <pc:grpChg chg="mod">
          <ac:chgData name="Malak Yazbek" userId="131de4e4151932d3" providerId="LiveId" clId="{946E0027-2F01-4B22-AB76-E55C9E0F896D}" dt="2025-08-31T17:47:47.222" v="108" actId="1076"/>
          <ac:grpSpMkLst>
            <pc:docMk/>
            <pc:sldMk cId="0" sldId="258"/>
            <ac:grpSpMk id="42" creationId="{A8D53B54-5532-A321-FE2E-626FECE9A801}"/>
          </ac:grpSpMkLst>
        </pc:grpChg>
        <pc:picChg chg="add mod">
          <ac:chgData name="Malak Yazbek" userId="131de4e4151932d3" providerId="LiveId" clId="{946E0027-2F01-4B22-AB76-E55C9E0F896D}" dt="2025-08-31T17:40:14.650" v="71" actId="1076"/>
          <ac:picMkLst>
            <pc:docMk/>
            <pc:sldMk cId="0" sldId="258"/>
            <ac:picMk id="3" creationId="{61622F0D-A21D-9219-3149-E85F73221DB2}"/>
          </ac:picMkLst>
        </pc:picChg>
        <pc:picChg chg="add mod">
          <ac:chgData name="Malak Yazbek" userId="131de4e4151932d3" providerId="LiveId" clId="{946E0027-2F01-4B22-AB76-E55C9E0F896D}" dt="2025-08-31T17:43:12.436" v="86" actId="1076"/>
          <ac:picMkLst>
            <pc:docMk/>
            <pc:sldMk cId="0" sldId="258"/>
            <ac:picMk id="5" creationId="{2CC5DBF3-2E52-C62A-2B5B-8B9765414DAB}"/>
          </ac:picMkLst>
        </pc:picChg>
        <pc:picChg chg="mod">
          <ac:chgData name="Malak Yazbek" userId="131de4e4151932d3" providerId="LiveId" clId="{946E0027-2F01-4B22-AB76-E55C9E0F896D}" dt="2025-08-31T17:34:07.798" v="28" actId="1076"/>
          <ac:picMkLst>
            <pc:docMk/>
            <pc:sldMk cId="0" sldId="258"/>
            <ac:picMk id="7" creationId="{D9F54363-CF11-DA0A-D1C9-7C105667C4A5}"/>
          </ac:picMkLst>
        </pc:picChg>
        <pc:picChg chg="add mod">
          <ac:chgData name="Malak Yazbek" userId="131de4e4151932d3" providerId="LiveId" clId="{946E0027-2F01-4B22-AB76-E55C9E0F896D}" dt="2025-08-31T17:42:57.384" v="85" actId="1076"/>
          <ac:picMkLst>
            <pc:docMk/>
            <pc:sldMk cId="0" sldId="258"/>
            <ac:picMk id="8" creationId="{510FBD08-3758-11A0-028F-492BB98C448D}"/>
          </ac:picMkLst>
        </pc:picChg>
        <pc:picChg chg="mod">
          <ac:chgData name="Malak Yazbek" userId="131de4e4151932d3" providerId="LiveId" clId="{946E0027-2F01-4B22-AB76-E55C9E0F896D}" dt="2025-08-31T17:33:38.108" v="25" actId="1076"/>
          <ac:picMkLst>
            <pc:docMk/>
            <pc:sldMk cId="0" sldId="258"/>
            <ac:picMk id="11" creationId="{A0D42412-6901-91FC-7036-D14853A6BBA9}"/>
          </ac:picMkLst>
        </pc:picChg>
        <pc:picChg chg="mod">
          <ac:chgData name="Malak Yazbek" userId="131de4e4151932d3" providerId="LiveId" clId="{946E0027-2F01-4B22-AB76-E55C9E0F896D}" dt="2025-08-31T17:31:13.823" v="7" actId="1076"/>
          <ac:picMkLst>
            <pc:docMk/>
            <pc:sldMk cId="0" sldId="258"/>
            <ac:picMk id="13" creationId="{06ECBA0F-C850-25F9-5066-F5F34AA15CA6}"/>
          </ac:picMkLst>
        </pc:picChg>
        <pc:picChg chg="mod">
          <ac:chgData name="Malak Yazbek" userId="131de4e4151932d3" providerId="LiveId" clId="{946E0027-2F01-4B22-AB76-E55C9E0F896D}" dt="2025-08-31T17:31:00.817" v="5" actId="1076"/>
          <ac:picMkLst>
            <pc:docMk/>
            <pc:sldMk cId="0" sldId="258"/>
            <ac:picMk id="15" creationId="{54D07BD8-5830-75FF-BFF3-2681B297E9DE}"/>
          </ac:picMkLst>
        </pc:picChg>
        <pc:picChg chg="mod">
          <ac:chgData name="Malak Yazbek" userId="131de4e4151932d3" providerId="LiveId" clId="{946E0027-2F01-4B22-AB76-E55C9E0F896D}" dt="2025-08-31T17:47:47.222" v="108" actId="1076"/>
          <ac:picMkLst>
            <pc:docMk/>
            <pc:sldMk cId="0" sldId="258"/>
            <ac:picMk id="41" creationId="{B54810AB-2039-D89C-EE7B-70618691BE5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horzBrick">
          <a:fgClr>
            <a:srgbClr val="F4BB66"/>
          </a:fgClr>
          <a:bgClr>
            <a:schemeClr val="bg1"/>
          </a:bgClr>
        </a:pattFill>
        <a:effectLst/>
      </p:bgPr>
    </p:bg>
    <p:spTree>
      <p:nvGrpSpPr>
        <p:cNvPr id="1" name=""/>
        <p:cNvGrpSpPr/>
        <p:nvPr/>
      </p:nvGrpSpPr>
      <p:grpSpPr>
        <a:xfrm>
          <a:off x="0" y="0"/>
          <a:ext cx="0" cy="0"/>
          <a:chOff x="0" y="0"/>
          <a:chExt cx="0" cy="0"/>
        </a:xfrm>
      </p:grpSpPr>
      <p:sp>
        <p:nvSpPr>
          <p:cNvPr id="32" name="Freeform 32"/>
          <p:cNvSpPr/>
          <p:nvPr/>
        </p:nvSpPr>
        <p:spPr>
          <a:xfrm>
            <a:off x="0" y="-57150"/>
            <a:ext cx="15113000" cy="3589686"/>
          </a:xfrm>
          <a:custGeom>
            <a:avLst/>
            <a:gdLst/>
            <a:ahLst/>
            <a:cxnLst/>
            <a:rect l="l" t="t" r="r" b="b"/>
            <a:pathLst>
              <a:path w="7123430" h="4552950">
                <a:moveTo>
                  <a:pt x="0" y="0"/>
                </a:moveTo>
                <a:lnTo>
                  <a:pt x="7123430" y="0"/>
                </a:lnTo>
                <a:lnTo>
                  <a:pt x="7123430" y="4552950"/>
                </a:lnTo>
                <a:lnTo>
                  <a:pt x="0" y="4552950"/>
                </a:lnTo>
                <a:close/>
              </a:path>
            </a:pathLst>
          </a:custGeom>
          <a:solidFill>
            <a:srgbClr val="F4BB66"/>
          </a:solidFill>
          <a:ln w="12700">
            <a:solidFill>
              <a:schemeClr val="tx1"/>
            </a:solidFill>
          </a:ln>
        </p:spPr>
      </p:sp>
      <p:grpSp>
        <p:nvGrpSpPr>
          <p:cNvPr id="42" name="Group 41">
            <a:extLst>
              <a:ext uri="{FF2B5EF4-FFF2-40B4-BE49-F238E27FC236}">
                <a16:creationId xmlns:a16="http://schemas.microsoft.com/office/drawing/2014/main" id="{A8D53B54-5532-A321-FE2E-626FECE9A801}"/>
              </a:ext>
            </a:extLst>
          </p:cNvPr>
          <p:cNvGrpSpPr/>
          <p:nvPr/>
        </p:nvGrpSpPr>
        <p:grpSpPr>
          <a:xfrm>
            <a:off x="544835" y="477832"/>
            <a:ext cx="14023330" cy="2448813"/>
            <a:chOff x="409254" y="525391"/>
            <a:chExt cx="14023330" cy="2448813"/>
          </a:xfrm>
        </p:grpSpPr>
        <p:grpSp>
          <p:nvGrpSpPr>
            <p:cNvPr id="39" name="Group 38">
              <a:extLst>
                <a:ext uri="{FF2B5EF4-FFF2-40B4-BE49-F238E27FC236}">
                  <a16:creationId xmlns:a16="http://schemas.microsoft.com/office/drawing/2014/main" id="{2A0067F0-96E0-B930-656B-40518C8119D4}"/>
                </a:ext>
              </a:extLst>
            </p:cNvPr>
            <p:cNvGrpSpPr/>
            <p:nvPr/>
          </p:nvGrpSpPr>
          <p:grpSpPr>
            <a:xfrm>
              <a:off x="2919213" y="525391"/>
              <a:ext cx="11513371" cy="2448813"/>
              <a:chOff x="2968272" y="346598"/>
              <a:chExt cx="11513371" cy="2448813"/>
            </a:xfrm>
          </p:grpSpPr>
          <p:sp>
            <p:nvSpPr>
              <p:cNvPr id="35" name="TextBox 35"/>
              <p:cNvSpPr txBox="1"/>
              <p:nvPr/>
            </p:nvSpPr>
            <p:spPr>
              <a:xfrm>
                <a:off x="2968272" y="346598"/>
                <a:ext cx="11513371" cy="663130"/>
              </a:xfrm>
              <a:prstGeom prst="rect">
                <a:avLst/>
              </a:prstGeom>
            </p:spPr>
            <p:txBody>
              <a:bodyPr wrap="square" lIns="0" tIns="0" rIns="0" bIns="0" rtlCol="0" anchor="t">
                <a:spAutoFit/>
              </a:bodyPr>
              <a:lstStyle/>
              <a:p>
                <a:pPr algn="ctr">
                  <a:lnSpc>
                    <a:spcPts val="5759"/>
                  </a:lnSpc>
                  <a:spcBef>
                    <a:spcPct val="0"/>
                  </a:spcBef>
                </a:pPr>
                <a:r>
                  <a:rPr lang="en-US" sz="4000" b="1" spc="655" dirty="0">
                    <a:solidFill>
                      <a:srgbClr val="000000"/>
                    </a:solidFill>
                    <a:latin typeface="Tahoma Bold"/>
                    <a:ea typeface="Tahoma Bold"/>
                    <a:cs typeface="Tahoma Bold"/>
                    <a:sym typeface="Tahoma Bold"/>
                  </a:rPr>
                  <a:t>Coffee Shop Management System</a:t>
                </a:r>
              </a:p>
            </p:txBody>
          </p:sp>
          <p:sp>
            <p:nvSpPr>
              <p:cNvPr id="36" name="TextBox 36"/>
              <p:cNvSpPr txBox="1"/>
              <p:nvPr/>
            </p:nvSpPr>
            <p:spPr>
              <a:xfrm>
                <a:off x="6438957" y="994032"/>
                <a:ext cx="4572000" cy="554639"/>
              </a:xfrm>
              <a:prstGeom prst="rect">
                <a:avLst/>
              </a:prstGeom>
            </p:spPr>
            <p:txBody>
              <a:bodyPr wrap="square" lIns="0" tIns="0" rIns="0" bIns="0" rtlCol="0" anchor="t">
                <a:spAutoFit/>
              </a:bodyPr>
              <a:lstStyle/>
              <a:p>
                <a:pPr algn="ctr">
                  <a:lnSpc>
                    <a:spcPts val="5039"/>
                  </a:lnSpc>
                  <a:spcBef>
                    <a:spcPct val="0"/>
                  </a:spcBef>
                </a:pPr>
                <a:r>
                  <a:rPr lang="en-US" sz="2800" b="1" spc="573" dirty="0">
                    <a:solidFill>
                      <a:srgbClr val="000000"/>
                    </a:solidFill>
                    <a:latin typeface="Tahoma" panose="020B0604030504040204" pitchFamily="34" charset="0"/>
                    <a:ea typeface="Tahoma" panose="020B0604030504040204" pitchFamily="34" charset="0"/>
                    <a:cs typeface="Tahoma" panose="020B0604030504040204" pitchFamily="34" charset="0"/>
                    <a:sym typeface="Montserrat Bold"/>
                  </a:rPr>
                  <a:t>Summer Project</a:t>
                </a:r>
              </a:p>
            </p:txBody>
          </p:sp>
          <p:sp>
            <p:nvSpPr>
              <p:cNvPr id="37" name="TextBox 37"/>
              <p:cNvSpPr txBox="1"/>
              <p:nvPr/>
            </p:nvSpPr>
            <p:spPr>
              <a:xfrm>
                <a:off x="3918302" y="2288862"/>
                <a:ext cx="9613310" cy="506549"/>
              </a:xfrm>
              <a:prstGeom prst="rect">
                <a:avLst/>
              </a:prstGeom>
            </p:spPr>
            <p:txBody>
              <a:bodyPr wrap="square" lIns="0" tIns="0" rIns="0" bIns="0" rtlCol="0" anchor="t">
                <a:spAutoFit/>
              </a:bodyPr>
              <a:lstStyle/>
              <a:p>
                <a:pPr algn="ctr">
                  <a:lnSpc>
                    <a:spcPts val="4499"/>
                  </a:lnSpc>
                  <a:spcBef>
                    <a:spcPct val="0"/>
                  </a:spcBef>
                </a:pPr>
                <a:r>
                  <a:rPr lang="en-US" sz="2800" b="1" spc="512" dirty="0">
                    <a:solidFill>
                      <a:srgbClr val="000000"/>
                    </a:solidFill>
                    <a:latin typeface="Tahoma" panose="020B0604030504040204" pitchFamily="34" charset="0"/>
                    <a:ea typeface="Tahoma" panose="020B0604030504040204" pitchFamily="34" charset="0"/>
                    <a:cs typeface="Tahoma" panose="020B0604030504040204" pitchFamily="34" charset="0"/>
                    <a:sym typeface="Montserrat Ultra-Bold"/>
                  </a:rPr>
                  <a:t>Supervised By : Dr. Mohammad Choker</a:t>
                </a:r>
              </a:p>
            </p:txBody>
          </p:sp>
          <p:sp>
            <p:nvSpPr>
              <p:cNvPr id="38" name="TextBox 38"/>
              <p:cNvSpPr txBox="1"/>
              <p:nvPr/>
            </p:nvSpPr>
            <p:spPr>
              <a:xfrm>
                <a:off x="3956308" y="1654063"/>
                <a:ext cx="9537298" cy="594971"/>
              </a:xfrm>
              <a:prstGeom prst="rect">
                <a:avLst/>
              </a:prstGeom>
            </p:spPr>
            <p:txBody>
              <a:bodyPr wrap="square" lIns="0" tIns="0" rIns="0" bIns="0" rtlCol="0" anchor="t">
                <a:spAutoFit/>
              </a:bodyPr>
              <a:lstStyle/>
              <a:p>
                <a:pPr algn="ctr">
                  <a:lnSpc>
                    <a:spcPts val="5039"/>
                  </a:lnSpc>
                  <a:spcBef>
                    <a:spcPct val="0"/>
                  </a:spcBef>
                </a:pPr>
                <a:r>
                  <a:rPr lang="en-US" sz="3600" b="1" spc="573" dirty="0">
                    <a:solidFill>
                      <a:srgbClr val="000000"/>
                    </a:solidFill>
                    <a:latin typeface="Tahoma" panose="020B0604030504040204" pitchFamily="34" charset="0"/>
                    <a:ea typeface="Tahoma" panose="020B0604030504040204" pitchFamily="34" charset="0"/>
                    <a:cs typeface="Tahoma" panose="020B0604030504040204" pitchFamily="34" charset="0"/>
                    <a:sym typeface="Montserrat Bold"/>
                  </a:rPr>
                  <a:t>By: Nour </a:t>
                </a:r>
                <a:r>
                  <a:rPr lang="en-US" sz="3600" b="1" spc="573" dirty="0" err="1">
                    <a:solidFill>
                      <a:srgbClr val="000000"/>
                    </a:solidFill>
                    <a:latin typeface="Tahoma" panose="020B0604030504040204" pitchFamily="34" charset="0"/>
                    <a:ea typeface="Tahoma" panose="020B0604030504040204" pitchFamily="34" charset="0"/>
                    <a:cs typeface="Tahoma" panose="020B0604030504040204" pitchFamily="34" charset="0"/>
                    <a:sym typeface="Montserrat Bold"/>
                  </a:rPr>
                  <a:t>Mrad</a:t>
                </a:r>
                <a:r>
                  <a:rPr lang="en-US" sz="3600" b="1" spc="573" dirty="0">
                    <a:solidFill>
                      <a:srgbClr val="000000"/>
                    </a:solidFill>
                    <a:latin typeface="Tahoma" panose="020B0604030504040204" pitchFamily="34" charset="0"/>
                    <a:ea typeface="Tahoma" panose="020B0604030504040204" pitchFamily="34" charset="0"/>
                    <a:cs typeface="Tahoma" panose="020B0604030504040204" pitchFamily="34" charset="0"/>
                    <a:sym typeface="Montserrat Bold"/>
                  </a:rPr>
                  <a:t> &amp; Malak Yazbek</a:t>
                </a:r>
              </a:p>
            </p:txBody>
          </p:sp>
        </p:grpSp>
        <p:pic>
          <p:nvPicPr>
            <p:cNvPr id="41" name="object 13">
              <a:extLst>
                <a:ext uri="{FF2B5EF4-FFF2-40B4-BE49-F238E27FC236}">
                  <a16:creationId xmlns:a16="http://schemas.microsoft.com/office/drawing/2014/main" id="{B54810AB-2039-D89C-EE7B-70618691BE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78" r="5441"/>
            <a:stretch/>
          </p:blipFill>
          <p:spPr bwMode="auto">
            <a:xfrm>
              <a:off x="409254" y="1018088"/>
              <a:ext cx="2686745" cy="1620000"/>
            </a:xfrm>
            <a:prstGeom prst="rect">
              <a:avLst/>
            </a:prstGeom>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1" name="Group 130">
            <a:extLst>
              <a:ext uri="{FF2B5EF4-FFF2-40B4-BE49-F238E27FC236}">
                <a16:creationId xmlns:a16="http://schemas.microsoft.com/office/drawing/2014/main" id="{2E92DBCA-BDF9-C24B-8936-3858943C79FC}"/>
              </a:ext>
            </a:extLst>
          </p:cNvPr>
          <p:cNvGrpSpPr/>
          <p:nvPr/>
        </p:nvGrpSpPr>
        <p:grpSpPr>
          <a:xfrm>
            <a:off x="154476" y="3752850"/>
            <a:ext cx="14804047" cy="17503260"/>
            <a:chOff x="152309" y="3676650"/>
            <a:chExt cx="14804047" cy="17503260"/>
          </a:xfrm>
        </p:grpSpPr>
        <p:sp>
          <p:nvSpPr>
            <p:cNvPr id="50" name="object 15">
              <a:extLst>
                <a:ext uri="{FF2B5EF4-FFF2-40B4-BE49-F238E27FC236}">
                  <a16:creationId xmlns:a16="http://schemas.microsoft.com/office/drawing/2014/main" id="{57B6DF8B-75D2-3FA6-F060-6F91960A2799}"/>
                </a:ext>
              </a:extLst>
            </p:cNvPr>
            <p:cNvSpPr>
              <a:spLocks/>
            </p:cNvSpPr>
            <p:nvPr/>
          </p:nvSpPr>
          <p:spPr bwMode="auto">
            <a:xfrm>
              <a:off x="152729" y="7520110"/>
              <a:ext cx="7498930" cy="6192000"/>
            </a:xfrm>
            <a:custGeom>
              <a:avLst/>
              <a:gdLst>
                <a:gd name="T0" fmla="*/ 0 w 7499350"/>
                <a:gd name="T1" fmla="*/ 5356625 h 5356859"/>
                <a:gd name="T2" fmla="*/ 7498829 w 7499350"/>
                <a:gd name="T3" fmla="*/ 5356625 h 5356859"/>
                <a:gd name="T4" fmla="*/ 7498829 w 7499350"/>
                <a:gd name="T5" fmla="*/ 0 h 5356859"/>
                <a:gd name="T6" fmla="*/ 0 w 7499350"/>
                <a:gd name="T7" fmla="*/ 0 h 5356859"/>
                <a:gd name="T8" fmla="*/ 0 w 7499350"/>
                <a:gd name="T9" fmla="*/ 5356625 h 5356859"/>
              </a:gdLst>
              <a:ahLst/>
              <a:cxnLst>
                <a:cxn ang="0">
                  <a:pos x="T0" y="T1"/>
                </a:cxn>
                <a:cxn ang="0">
                  <a:pos x="T2" y="T3"/>
                </a:cxn>
                <a:cxn ang="0">
                  <a:pos x="T4" y="T5"/>
                </a:cxn>
                <a:cxn ang="0">
                  <a:pos x="T6" y="T7"/>
                </a:cxn>
                <a:cxn ang="0">
                  <a:pos x="T8" y="T9"/>
                </a:cxn>
              </a:cxnLst>
              <a:rect l="0" t="0" r="r" b="b"/>
              <a:pathLst>
                <a:path w="7499350" h="5356859">
                  <a:moveTo>
                    <a:pt x="0" y="5356625"/>
                  </a:moveTo>
                  <a:lnTo>
                    <a:pt x="7498829" y="5356625"/>
                  </a:lnTo>
                  <a:lnTo>
                    <a:pt x="7498829" y="0"/>
                  </a:lnTo>
                  <a:lnTo>
                    <a:pt x="0" y="0"/>
                  </a:lnTo>
                  <a:lnTo>
                    <a:pt x="0" y="53566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51" name="object 18">
              <a:extLst>
                <a:ext uri="{FF2B5EF4-FFF2-40B4-BE49-F238E27FC236}">
                  <a16:creationId xmlns:a16="http://schemas.microsoft.com/office/drawing/2014/main" id="{3C80C0B6-0D6E-DFAE-ABE1-653A0484FE6B}"/>
                </a:ext>
              </a:extLst>
            </p:cNvPr>
            <p:cNvSpPr txBox="1"/>
            <p:nvPr/>
          </p:nvSpPr>
          <p:spPr>
            <a:xfrm>
              <a:off x="152309" y="7076772"/>
              <a:ext cx="7499350" cy="468000"/>
            </a:xfrm>
            <a:prstGeom prst="rect">
              <a:avLst/>
            </a:prstGeom>
            <a:solidFill>
              <a:srgbClr val="F4BB66"/>
            </a:solidFill>
          </p:spPr>
          <p:txBody>
            <a:bodyPr lIns="0" tIns="67310" rIns="0" bIns="0">
              <a:spAutoFit/>
            </a:bodyPr>
            <a:lstStyle/>
            <a:p>
              <a:pPr marL="100330" eaLnBrk="1" fontAlgn="auto" hangingPunct="1">
                <a:spcBef>
                  <a:spcPts val="530"/>
                </a:spcBef>
                <a:spcAft>
                  <a:spcPts val="0"/>
                </a:spcAft>
                <a:defRPr/>
              </a:pPr>
              <a:r>
                <a:rPr sz="1950" kern="0" spc="-105" dirty="0">
                  <a:solidFill>
                    <a:srgbClr val="FFFFFF"/>
                  </a:solidFill>
                  <a:latin typeface="Tahoma"/>
                  <a:cs typeface="Tahoma"/>
                </a:rPr>
                <a:t>SYSTEM</a:t>
              </a:r>
              <a:r>
                <a:rPr sz="1950" kern="0" spc="-60" dirty="0">
                  <a:solidFill>
                    <a:srgbClr val="FFFFFF"/>
                  </a:solidFill>
                  <a:latin typeface="Tahoma"/>
                  <a:cs typeface="Tahoma"/>
                </a:rPr>
                <a:t> </a:t>
              </a:r>
              <a:r>
                <a:rPr sz="1950" kern="0" spc="-10" dirty="0">
                  <a:solidFill>
                    <a:srgbClr val="FFFFFF"/>
                  </a:solidFill>
                  <a:latin typeface="Tahoma"/>
                  <a:cs typeface="Tahoma"/>
                </a:rPr>
                <a:t>OVERVIEW</a:t>
              </a:r>
              <a:endParaRPr sz="1950" kern="0">
                <a:solidFill>
                  <a:sysClr val="windowText" lastClr="000000"/>
                </a:solidFill>
                <a:latin typeface="Tahoma"/>
                <a:cs typeface="Tahoma"/>
              </a:endParaRPr>
            </a:p>
          </p:txBody>
        </p:sp>
        <p:grpSp>
          <p:nvGrpSpPr>
            <p:cNvPr id="68" name="Group 67">
              <a:extLst>
                <a:ext uri="{FF2B5EF4-FFF2-40B4-BE49-F238E27FC236}">
                  <a16:creationId xmlns:a16="http://schemas.microsoft.com/office/drawing/2014/main" id="{2F53295B-F9E8-8ABF-7EC3-12ABDCFEFDA1}"/>
                </a:ext>
              </a:extLst>
            </p:cNvPr>
            <p:cNvGrpSpPr/>
            <p:nvPr/>
          </p:nvGrpSpPr>
          <p:grpSpPr>
            <a:xfrm>
              <a:off x="654757" y="7715250"/>
              <a:ext cx="6494454" cy="5843075"/>
              <a:chOff x="435508" y="7715250"/>
              <a:chExt cx="6494454" cy="5843075"/>
            </a:xfrm>
          </p:grpSpPr>
          <p:sp>
            <p:nvSpPr>
              <p:cNvPr id="52" name="TextBox 51">
                <a:extLst>
                  <a:ext uri="{FF2B5EF4-FFF2-40B4-BE49-F238E27FC236}">
                    <a16:creationId xmlns:a16="http://schemas.microsoft.com/office/drawing/2014/main" id="{A5185D5D-B097-B29A-3607-839E7AE9DF55}"/>
                  </a:ext>
                </a:extLst>
              </p:cNvPr>
              <p:cNvSpPr txBox="1"/>
              <p:nvPr/>
            </p:nvSpPr>
            <p:spPr>
              <a:xfrm>
                <a:off x="435508" y="7806396"/>
                <a:ext cx="3607322" cy="5616602"/>
              </a:xfrm>
              <a:prstGeom prst="rect">
                <a:avLst/>
              </a:prstGeom>
              <a:noFill/>
            </p:spPr>
            <p:txBody>
              <a:bodyPr wrap="square" rtlCol="0">
                <a:spAutoFit/>
              </a:bodyPr>
              <a:lstStyle/>
              <a:p>
                <a:pPr marL="342900" lvl="0" indent="-342900">
                  <a:lnSpc>
                    <a:spcPct val="107000"/>
                  </a:lnSpc>
                  <a:spcBef>
                    <a:spcPts val="600"/>
                  </a:spcBef>
                  <a:spcAft>
                    <a:spcPts val="800"/>
                  </a:spcAft>
                  <a:buSzPts val="1000"/>
                  <a:buFont typeface="Symbol" panose="05050102010706020507" pitchFamily="18" charset="2"/>
                  <a:buChar char=""/>
                  <a:tabLst>
                    <a:tab pos="457200" algn="l"/>
                  </a:tabLst>
                </a:pPr>
                <a:r>
                  <a:rPr lang="en-US" sz="1600" b="1" dirty="0">
                    <a:effectLst/>
                    <a:latin typeface="Lucida Bright" panose="02040602050505020304" pitchFamily="18" charset="0"/>
                    <a:ea typeface="Times New Roman" panose="02020603050405020304" pitchFamily="18" charset="0"/>
                    <a:cs typeface="Arial" panose="020B0604020202020204" pitchFamily="34" charset="0"/>
                  </a:rPr>
                  <a:t>Graphical Interface (GUI) :</a:t>
                </a:r>
                <a:br>
                  <a:rPr lang="en-US" sz="1600" dirty="0">
                    <a:effectLst/>
                    <a:latin typeface="Lucida Bright" panose="02040602050505020304" pitchFamily="18" charset="0"/>
                    <a:ea typeface="Times New Roman" panose="02020603050405020304" pitchFamily="18" charset="0"/>
                    <a:cs typeface="Arial" panose="020B0604020202020204" pitchFamily="34" charset="0"/>
                  </a:rPr>
                </a:br>
                <a:r>
                  <a:rPr lang="en-US" sz="1600" dirty="0">
                    <a:effectLst/>
                    <a:latin typeface="Lucida Bright" panose="02040602050505020304" pitchFamily="18" charset="0"/>
                    <a:ea typeface="Times New Roman" panose="02020603050405020304" pitchFamily="18" charset="0"/>
                    <a:cs typeface="Arial" panose="020B0604020202020204" pitchFamily="34" charset="0"/>
                  </a:rPr>
                  <a:t>Simple and user-friendly screens for both Admin (management) and Staff (cashier).</a:t>
                </a:r>
                <a:endParaRPr lang="en-US" sz="1600" dirty="0">
                  <a:effectLst/>
                  <a:latin typeface="Lucida Bright" panose="02040602050505020304" pitchFamily="18" charset="0"/>
                  <a:ea typeface="Calibri" panose="020F0502020204030204" pitchFamily="34" charset="0"/>
                  <a:cs typeface="Arial" panose="020B0604020202020204" pitchFamily="34" charset="0"/>
                </a:endParaRPr>
              </a:p>
              <a:p>
                <a:pPr marL="342900" lvl="0" indent="-342900">
                  <a:lnSpc>
                    <a:spcPct val="107000"/>
                  </a:lnSpc>
                  <a:spcBef>
                    <a:spcPts val="600"/>
                  </a:spcBef>
                  <a:spcAft>
                    <a:spcPts val="800"/>
                  </a:spcAft>
                  <a:buSzPts val="1000"/>
                  <a:buFont typeface="Symbol" panose="05050102010706020507" pitchFamily="18" charset="2"/>
                  <a:buChar char=""/>
                  <a:tabLst>
                    <a:tab pos="457200" algn="l"/>
                  </a:tabLst>
                </a:pPr>
                <a:r>
                  <a:rPr lang="en-US" sz="1600" b="1" dirty="0">
                    <a:effectLst/>
                    <a:latin typeface="Lucida Bright" panose="02040602050505020304" pitchFamily="18" charset="0"/>
                    <a:ea typeface="Times New Roman" panose="02020603050405020304" pitchFamily="18" charset="0"/>
                    <a:cs typeface="Arial" panose="020B0604020202020204" pitchFamily="34" charset="0"/>
                  </a:rPr>
                  <a:t>Admin Features :</a:t>
                </a:r>
                <a:br>
                  <a:rPr lang="en-US" sz="1600" dirty="0">
                    <a:effectLst/>
                    <a:latin typeface="Lucida Bright" panose="02040602050505020304" pitchFamily="18" charset="0"/>
                    <a:ea typeface="Times New Roman" panose="02020603050405020304" pitchFamily="18" charset="0"/>
                    <a:cs typeface="Arial" panose="020B0604020202020204" pitchFamily="34" charset="0"/>
                  </a:rPr>
                </a:br>
                <a:r>
                  <a:rPr lang="en-US" sz="1600" dirty="0">
                    <a:effectLst/>
                    <a:latin typeface="Lucida Bright" panose="02040602050505020304" pitchFamily="18" charset="0"/>
                    <a:ea typeface="Times New Roman" panose="02020603050405020304" pitchFamily="18" charset="0"/>
                    <a:cs typeface="Arial" panose="020B0604020202020204" pitchFamily="34" charset="0"/>
                  </a:rPr>
                  <a:t>Manage users, menu, books inventory, suppliers, and generate reports.</a:t>
                </a:r>
                <a:endParaRPr lang="en-US" sz="1600" dirty="0">
                  <a:effectLst/>
                  <a:latin typeface="Lucida Bright" panose="02040602050505020304" pitchFamily="18" charset="0"/>
                  <a:ea typeface="Calibri" panose="020F0502020204030204" pitchFamily="34" charset="0"/>
                  <a:cs typeface="Arial" panose="020B0604020202020204" pitchFamily="34" charset="0"/>
                </a:endParaRPr>
              </a:p>
              <a:p>
                <a:pPr marL="342900" lvl="0" indent="-342900">
                  <a:lnSpc>
                    <a:spcPct val="107000"/>
                  </a:lnSpc>
                  <a:spcBef>
                    <a:spcPts val="600"/>
                  </a:spcBef>
                  <a:spcAft>
                    <a:spcPts val="800"/>
                  </a:spcAft>
                  <a:buSzPts val="1000"/>
                  <a:buFont typeface="Symbol" panose="05050102010706020507" pitchFamily="18" charset="2"/>
                  <a:buChar char=""/>
                  <a:tabLst>
                    <a:tab pos="457200" algn="l"/>
                  </a:tabLst>
                </a:pPr>
                <a:r>
                  <a:rPr lang="en-US" sz="1600" b="1" dirty="0">
                    <a:effectLst/>
                    <a:latin typeface="Lucida Bright" panose="02040602050505020304" pitchFamily="18" charset="0"/>
                    <a:ea typeface="Times New Roman" panose="02020603050405020304" pitchFamily="18" charset="0"/>
                    <a:cs typeface="Arial" panose="020B0604020202020204" pitchFamily="34" charset="0"/>
                  </a:rPr>
                  <a:t>Staff Features :</a:t>
                </a:r>
                <a:br>
                  <a:rPr lang="en-US" sz="1600" dirty="0">
                    <a:effectLst/>
                    <a:latin typeface="Lucida Bright" panose="02040602050505020304" pitchFamily="18" charset="0"/>
                    <a:ea typeface="Times New Roman" panose="02020603050405020304" pitchFamily="18" charset="0"/>
                    <a:cs typeface="Arial" panose="020B0604020202020204" pitchFamily="34" charset="0"/>
                  </a:rPr>
                </a:br>
                <a:r>
                  <a:rPr lang="en-US" sz="1600" dirty="0">
                    <a:effectLst/>
                    <a:latin typeface="Lucida Bright" panose="02040602050505020304" pitchFamily="18" charset="0"/>
                    <a:ea typeface="Times New Roman" panose="02020603050405020304" pitchFamily="18" charset="0"/>
                    <a:cs typeface="Arial" panose="020B0604020202020204" pitchFamily="34" charset="0"/>
                  </a:rPr>
                  <a:t>Create orders, handle customer service, manage borrowing, and respond to alerts.</a:t>
                </a:r>
                <a:endParaRPr lang="en-US" sz="1600" dirty="0">
                  <a:effectLst/>
                  <a:latin typeface="Lucida Bright" panose="02040602050505020304" pitchFamily="18" charset="0"/>
                  <a:ea typeface="Calibri" panose="020F0502020204030204" pitchFamily="34" charset="0"/>
                  <a:cs typeface="Arial" panose="020B0604020202020204" pitchFamily="34" charset="0"/>
                </a:endParaRPr>
              </a:p>
              <a:p>
                <a:pPr marL="342900" lvl="0" indent="-342900">
                  <a:lnSpc>
                    <a:spcPct val="107000"/>
                  </a:lnSpc>
                  <a:spcBef>
                    <a:spcPts val="600"/>
                  </a:spcBef>
                  <a:spcAft>
                    <a:spcPts val="800"/>
                  </a:spcAft>
                  <a:buSzPts val="1000"/>
                  <a:buFont typeface="Symbol" panose="05050102010706020507" pitchFamily="18" charset="2"/>
                  <a:buChar char=""/>
                  <a:tabLst>
                    <a:tab pos="457200" algn="l"/>
                  </a:tabLst>
                </a:pPr>
                <a:r>
                  <a:rPr lang="en-US" sz="1600" b="1" dirty="0">
                    <a:effectLst/>
                    <a:latin typeface="Lucida Bright" panose="02040602050505020304" pitchFamily="18" charset="0"/>
                    <a:ea typeface="Times New Roman" panose="02020603050405020304" pitchFamily="18" charset="0"/>
                    <a:cs typeface="Arial" panose="020B0604020202020204" pitchFamily="34" charset="0"/>
                  </a:rPr>
                  <a:t>Database Integration :</a:t>
                </a:r>
                <a:br>
                  <a:rPr lang="en-US" sz="1600" dirty="0">
                    <a:effectLst/>
                    <a:latin typeface="Lucida Bright" panose="02040602050505020304" pitchFamily="18" charset="0"/>
                    <a:ea typeface="Times New Roman" panose="02020603050405020304" pitchFamily="18" charset="0"/>
                    <a:cs typeface="Arial" panose="020B0604020202020204" pitchFamily="34" charset="0"/>
                  </a:rPr>
                </a:br>
                <a:r>
                  <a:rPr lang="en-US" sz="1600" dirty="0">
                    <a:effectLst/>
                    <a:latin typeface="Lucida Bright" panose="02040602050505020304" pitchFamily="18" charset="0"/>
                    <a:ea typeface="Times New Roman" panose="02020603050405020304" pitchFamily="18" charset="0"/>
                    <a:cs typeface="Arial" panose="020B0604020202020204" pitchFamily="34" charset="0"/>
                  </a:rPr>
                  <a:t>Uses MySQL for secure, reliable, and fast data storage, ensuring consistency across all operations.</a:t>
                </a:r>
                <a:endParaRPr lang="en-US" sz="1600" dirty="0">
                  <a:effectLst/>
                  <a:latin typeface="Lucida Bright" panose="02040602050505020304" pitchFamily="18" charset="0"/>
                  <a:ea typeface="Calibri" panose="020F0502020204030204" pitchFamily="34" charset="0"/>
                  <a:cs typeface="Arial" panose="020B0604020202020204" pitchFamily="34" charset="0"/>
                </a:endParaRPr>
              </a:p>
            </p:txBody>
          </p:sp>
          <p:grpSp>
            <p:nvGrpSpPr>
              <p:cNvPr id="61" name="Group 60">
                <a:extLst>
                  <a:ext uri="{FF2B5EF4-FFF2-40B4-BE49-F238E27FC236}">
                    <a16:creationId xmlns:a16="http://schemas.microsoft.com/office/drawing/2014/main" id="{7A5BD004-C8B9-2ADD-DA4F-630D5FEF5FBB}"/>
                  </a:ext>
                </a:extLst>
              </p:cNvPr>
              <p:cNvGrpSpPr/>
              <p:nvPr/>
            </p:nvGrpSpPr>
            <p:grpSpPr>
              <a:xfrm>
                <a:off x="4481962" y="7715250"/>
                <a:ext cx="2448000" cy="5843075"/>
                <a:chOff x="4725270" y="7465141"/>
                <a:chExt cx="2448000" cy="5843075"/>
              </a:xfrm>
            </p:grpSpPr>
            <p:pic>
              <p:nvPicPr>
                <p:cNvPr id="54" name="Picture 53">
                  <a:extLst>
                    <a:ext uri="{FF2B5EF4-FFF2-40B4-BE49-F238E27FC236}">
                      <a16:creationId xmlns:a16="http://schemas.microsoft.com/office/drawing/2014/main" id="{FD2AC6A2-90F1-ED20-0524-6087E79415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5270" y="7465141"/>
                  <a:ext cx="2448000" cy="2702272"/>
                </a:xfrm>
                <a:prstGeom prst="rect">
                  <a:avLst/>
                </a:prstGeom>
              </p:spPr>
            </p:pic>
            <p:pic>
              <p:nvPicPr>
                <p:cNvPr id="56" name="Picture 55">
                  <a:extLst>
                    <a:ext uri="{FF2B5EF4-FFF2-40B4-BE49-F238E27FC236}">
                      <a16:creationId xmlns:a16="http://schemas.microsoft.com/office/drawing/2014/main" id="{3ABC530F-D325-B839-0570-9CF0419043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25270" y="10449618"/>
                  <a:ext cx="2448000" cy="2858598"/>
                </a:xfrm>
                <a:prstGeom prst="rect">
                  <a:avLst/>
                </a:prstGeom>
              </p:spPr>
            </p:pic>
          </p:grpSp>
        </p:grpSp>
        <p:sp>
          <p:nvSpPr>
            <p:cNvPr id="64" name="object 23">
              <a:extLst>
                <a:ext uri="{FF2B5EF4-FFF2-40B4-BE49-F238E27FC236}">
                  <a16:creationId xmlns:a16="http://schemas.microsoft.com/office/drawing/2014/main" id="{ABFC8F99-F750-8CBF-6E8A-7DEAA53E3678}"/>
                </a:ext>
              </a:extLst>
            </p:cNvPr>
            <p:cNvSpPr>
              <a:spLocks/>
            </p:cNvSpPr>
            <p:nvPr/>
          </p:nvSpPr>
          <p:spPr bwMode="auto">
            <a:xfrm>
              <a:off x="152309" y="14497049"/>
              <a:ext cx="7499350" cy="6682861"/>
            </a:xfrm>
            <a:custGeom>
              <a:avLst/>
              <a:gdLst>
                <a:gd name="T0" fmla="*/ 7498829 w 7499350"/>
                <a:gd name="T1" fmla="*/ 0 h 6701790"/>
                <a:gd name="T2" fmla="*/ 0 w 7499350"/>
                <a:gd name="T3" fmla="*/ 0 h 6701790"/>
                <a:gd name="T4" fmla="*/ 0 w 7499350"/>
                <a:gd name="T5" fmla="*/ 6701366 h 6701790"/>
                <a:gd name="T6" fmla="*/ 7498829 w 7499350"/>
                <a:gd name="T7" fmla="*/ 6701366 h 6701790"/>
                <a:gd name="T8" fmla="*/ 7498829 w 7499350"/>
                <a:gd name="T9" fmla="*/ 0 h 6701790"/>
              </a:gdLst>
              <a:ahLst/>
              <a:cxnLst>
                <a:cxn ang="0">
                  <a:pos x="T0" y="T1"/>
                </a:cxn>
                <a:cxn ang="0">
                  <a:pos x="T2" y="T3"/>
                </a:cxn>
                <a:cxn ang="0">
                  <a:pos x="T4" y="T5"/>
                </a:cxn>
                <a:cxn ang="0">
                  <a:pos x="T6" y="T7"/>
                </a:cxn>
                <a:cxn ang="0">
                  <a:pos x="T8" y="T9"/>
                </a:cxn>
              </a:cxnLst>
              <a:rect l="0" t="0" r="r" b="b"/>
              <a:pathLst>
                <a:path w="7499350" h="6701790">
                  <a:moveTo>
                    <a:pt x="7498829" y="0"/>
                  </a:moveTo>
                  <a:lnTo>
                    <a:pt x="0" y="0"/>
                  </a:lnTo>
                  <a:lnTo>
                    <a:pt x="0" y="6701366"/>
                  </a:lnTo>
                  <a:lnTo>
                    <a:pt x="7498829" y="6701366"/>
                  </a:lnTo>
                  <a:lnTo>
                    <a:pt x="749882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65" name="object 24">
              <a:extLst>
                <a:ext uri="{FF2B5EF4-FFF2-40B4-BE49-F238E27FC236}">
                  <a16:creationId xmlns:a16="http://schemas.microsoft.com/office/drawing/2014/main" id="{7B9ED92D-2C08-C286-C8A5-860615E4D89D}"/>
                </a:ext>
              </a:extLst>
            </p:cNvPr>
            <p:cNvSpPr txBox="1"/>
            <p:nvPr/>
          </p:nvSpPr>
          <p:spPr>
            <a:xfrm>
              <a:off x="152309" y="13993049"/>
              <a:ext cx="7499350" cy="504000"/>
            </a:xfrm>
            <a:prstGeom prst="rect">
              <a:avLst/>
            </a:prstGeom>
            <a:solidFill>
              <a:srgbClr val="F4BB66"/>
            </a:solidFill>
          </p:spPr>
          <p:txBody>
            <a:bodyPr lIns="0" tIns="67945" rIns="0" bIns="0">
              <a:spAutoFit/>
            </a:bodyPr>
            <a:lstStyle/>
            <a:p>
              <a:pPr marL="85090" eaLnBrk="1" fontAlgn="auto" hangingPunct="1">
                <a:spcBef>
                  <a:spcPts val="535"/>
                </a:spcBef>
                <a:spcAft>
                  <a:spcPts val="0"/>
                </a:spcAft>
                <a:defRPr/>
              </a:pPr>
              <a:r>
                <a:rPr sz="1950" kern="0" spc="-100" dirty="0">
                  <a:solidFill>
                    <a:srgbClr val="FFFFFF"/>
                  </a:solidFill>
                  <a:latin typeface="Tahoma"/>
                  <a:cs typeface="Tahoma"/>
                </a:rPr>
                <a:t>SOFTWARE</a:t>
              </a:r>
              <a:r>
                <a:rPr sz="1950" kern="0" spc="-30" dirty="0">
                  <a:solidFill>
                    <a:srgbClr val="FFFFFF"/>
                  </a:solidFill>
                  <a:latin typeface="Tahoma"/>
                  <a:cs typeface="Tahoma"/>
                </a:rPr>
                <a:t> IMPLEMENTATION</a:t>
              </a:r>
              <a:endParaRPr sz="1950" kern="0" dirty="0">
                <a:solidFill>
                  <a:sysClr val="windowText" lastClr="000000"/>
                </a:solidFill>
                <a:latin typeface="Tahoma"/>
                <a:cs typeface="Tahoma"/>
              </a:endParaRPr>
            </a:p>
          </p:txBody>
        </p:sp>
        <p:grpSp>
          <p:nvGrpSpPr>
            <p:cNvPr id="86" name="Group 85">
              <a:extLst>
                <a:ext uri="{FF2B5EF4-FFF2-40B4-BE49-F238E27FC236}">
                  <a16:creationId xmlns:a16="http://schemas.microsoft.com/office/drawing/2014/main" id="{F211C6F6-ED73-9227-0B47-7130484F7C9C}"/>
                </a:ext>
              </a:extLst>
            </p:cNvPr>
            <p:cNvGrpSpPr/>
            <p:nvPr/>
          </p:nvGrpSpPr>
          <p:grpSpPr>
            <a:xfrm>
              <a:off x="368178" y="14838008"/>
              <a:ext cx="7067611" cy="6000942"/>
              <a:chOff x="380969" y="14795134"/>
              <a:chExt cx="7067611" cy="6000942"/>
            </a:xfrm>
          </p:grpSpPr>
          <p:grpSp>
            <p:nvGrpSpPr>
              <p:cNvPr id="83" name="Group 82">
                <a:extLst>
                  <a:ext uri="{FF2B5EF4-FFF2-40B4-BE49-F238E27FC236}">
                    <a16:creationId xmlns:a16="http://schemas.microsoft.com/office/drawing/2014/main" id="{837D9795-5DFA-A207-22AD-FD2B86AC6749}"/>
                  </a:ext>
                </a:extLst>
              </p:cNvPr>
              <p:cNvGrpSpPr/>
              <p:nvPr/>
            </p:nvGrpSpPr>
            <p:grpSpPr>
              <a:xfrm>
                <a:off x="439352" y="14795134"/>
                <a:ext cx="6925263" cy="1803693"/>
                <a:chOff x="428230" y="14882257"/>
                <a:chExt cx="6925263" cy="1803693"/>
              </a:xfrm>
            </p:grpSpPr>
            <p:pic>
              <p:nvPicPr>
                <p:cNvPr id="70" name="Picture 69">
                  <a:extLst>
                    <a:ext uri="{FF2B5EF4-FFF2-40B4-BE49-F238E27FC236}">
                      <a16:creationId xmlns:a16="http://schemas.microsoft.com/office/drawing/2014/main" id="{847B6E6C-6CF4-EBA0-6BEC-81DA173484D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91833" y="14885950"/>
                  <a:ext cx="3361660" cy="1800000"/>
                </a:xfrm>
                <a:prstGeom prst="rect">
                  <a:avLst/>
                </a:prstGeom>
                <a:ln w="19050">
                  <a:solidFill>
                    <a:schemeClr val="tx1"/>
                  </a:solidFill>
                </a:ln>
              </p:spPr>
            </p:pic>
            <p:pic>
              <p:nvPicPr>
                <p:cNvPr id="72" name="Picture 71">
                  <a:extLst>
                    <a:ext uri="{FF2B5EF4-FFF2-40B4-BE49-F238E27FC236}">
                      <a16:creationId xmlns:a16="http://schemas.microsoft.com/office/drawing/2014/main" id="{4D324116-DBB4-32B0-6384-86EA92220D9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8230" y="14882257"/>
                  <a:ext cx="3366655" cy="1800000"/>
                </a:xfrm>
                <a:prstGeom prst="rect">
                  <a:avLst/>
                </a:prstGeom>
                <a:ln w="19050">
                  <a:solidFill>
                    <a:schemeClr val="tx1"/>
                  </a:solidFill>
                </a:ln>
              </p:spPr>
            </p:pic>
          </p:grpSp>
          <p:grpSp>
            <p:nvGrpSpPr>
              <p:cNvPr id="84" name="Group 83">
                <a:extLst>
                  <a:ext uri="{FF2B5EF4-FFF2-40B4-BE49-F238E27FC236}">
                    <a16:creationId xmlns:a16="http://schemas.microsoft.com/office/drawing/2014/main" id="{D92A7D19-92E9-100C-4B2B-2CE1A46B3C4C}"/>
                  </a:ext>
                </a:extLst>
              </p:cNvPr>
              <p:cNvGrpSpPr/>
              <p:nvPr/>
            </p:nvGrpSpPr>
            <p:grpSpPr>
              <a:xfrm>
                <a:off x="427206" y="16921921"/>
                <a:ext cx="6978513" cy="1810868"/>
                <a:chOff x="427206" y="16921921"/>
                <a:chExt cx="6978513" cy="1810868"/>
              </a:xfrm>
            </p:grpSpPr>
            <p:pic>
              <p:nvPicPr>
                <p:cNvPr id="74" name="Picture 73">
                  <a:extLst>
                    <a:ext uri="{FF2B5EF4-FFF2-40B4-BE49-F238E27FC236}">
                      <a16:creationId xmlns:a16="http://schemas.microsoft.com/office/drawing/2014/main" id="{20787963-3F63-1A65-540D-6F4917F0ECD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27206" y="16921921"/>
                  <a:ext cx="3360116" cy="1800000"/>
                </a:xfrm>
                <a:prstGeom prst="rect">
                  <a:avLst/>
                </a:prstGeom>
                <a:ln w="19050">
                  <a:solidFill>
                    <a:schemeClr val="tx1"/>
                  </a:solidFill>
                </a:ln>
              </p:spPr>
            </p:pic>
            <p:pic>
              <p:nvPicPr>
                <p:cNvPr id="78" name="Picture 77">
                  <a:extLst>
                    <a:ext uri="{FF2B5EF4-FFF2-40B4-BE49-F238E27FC236}">
                      <a16:creationId xmlns:a16="http://schemas.microsoft.com/office/drawing/2014/main" id="{7834AFCB-2781-0B4C-A95E-F96A531843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61850" y="16932789"/>
                  <a:ext cx="3443869" cy="1800000"/>
                </a:xfrm>
                <a:prstGeom prst="rect">
                  <a:avLst/>
                </a:prstGeom>
                <a:ln w="19050">
                  <a:solidFill>
                    <a:schemeClr val="tx1"/>
                  </a:solidFill>
                </a:ln>
              </p:spPr>
            </p:pic>
          </p:grpSp>
          <p:grpSp>
            <p:nvGrpSpPr>
              <p:cNvPr id="85" name="Group 84">
                <a:extLst>
                  <a:ext uri="{FF2B5EF4-FFF2-40B4-BE49-F238E27FC236}">
                    <a16:creationId xmlns:a16="http://schemas.microsoft.com/office/drawing/2014/main" id="{58C29076-79CB-C8D6-03F2-817782260751}"/>
                  </a:ext>
                </a:extLst>
              </p:cNvPr>
              <p:cNvGrpSpPr/>
              <p:nvPr/>
            </p:nvGrpSpPr>
            <p:grpSpPr>
              <a:xfrm>
                <a:off x="380969" y="18977635"/>
                <a:ext cx="7067611" cy="1818441"/>
                <a:chOff x="400744" y="18986855"/>
                <a:chExt cx="7067611" cy="1818441"/>
              </a:xfrm>
            </p:grpSpPr>
            <p:pic>
              <p:nvPicPr>
                <p:cNvPr id="76" name="Picture 75">
                  <a:extLst>
                    <a:ext uri="{FF2B5EF4-FFF2-40B4-BE49-F238E27FC236}">
                      <a16:creationId xmlns:a16="http://schemas.microsoft.com/office/drawing/2014/main" id="{B41DF381-EA28-1273-C976-92752029278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00744" y="19005296"/>
                  <a:ext cx="3443869" cy="1800000"/>
                </a:xfrm>
                <a:prstGeom prst="rect">
                  <a:avLst/>
                </a:prstGeom>
                <a:ln w="19050">
                  <a:solidFill>
                    <a:schemeClr val="tx1"/>
                  </a:solidFill>
                </a:ln>
              </p:spPr>
            </p:pic>
            <p:pic>
              <p:nvPicPr>
                <p:cNvPr id="80" name="Picture 79">
                  <a:extLst>
                    <a:ext uri="{FF2B5EF4-FFF2-40B4-BE49-F238E27FC236}">
                      <a16:creationId xmlns:a16="http://schemas.microsoft.com/office/drawing/2014/main" id="{47E2FD63-3890-EF8B-F23B-65BB5DB9FF39}"/>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27917" y="18986855"/>
                  <a:ext cx="3440438" cy="1800000"/>
                </a:xfrm>
                <a:prstGeom prst="rect">
                  <a:avLst/>
                </a:prstGeom>
                <a:ln w="19050">
                  <a:solidFill>
                    <a:schemeClr val="tx1"/>
                  </a:solidFill>
                </a:ln>
              </p:spPr>
            </p:pic>
          </p:grpSp>
        </p:grpSp>
        <p:grpSp>
          <p:nvGrpSpPr>
            <p:cNvPr id="129" name="Group 128">
              <a:extLst>
                <a:ext uri="{FF2B5EF4-FFF2-40B4-BE49-F238E27FC236}">
                  <a16:creationId xmlns:a16="http://schemas.microsoft.com/office/drawing/2014/main" id="{E75AA249-AC7F-FF68-4F59-C452350E0C5B}"/>
                </a:ext>
              </a:extLst>
            </p:cNvPr>
            <p:cNvGrpSpPr/>
            <p:nvPr/>
          </p:nvGrpSpPr>
          <p:grpSpPr>
            <a:xfrm>
              <a:off x="165100" y="3676650"/>
              <a:ext cx="14785545" cy="11734800"/>
              <a:chOff x="165100" y="3676650"/>
              <a:chExt cx="14785545" cy="11734800"/>
            </a:xfrm>
          </p:grpSpPr>
          <p:grpSp>
            <p:nvGrpSpPr>
              <p:cNvPr id="49" name="Group 48">
                <a:extLst>
                  <a:ext uri="{FF2B5EF4-FFF2-40B4-BE49-F238E27FC236}">
                    <a16:creationId xmlns:a16="http://schemas.microsoft.com/office/drawing/2014/main" id="{7068D293-BD06-97EC-6E33-ECB3D6D5B7C5}"/>
                  </a:ext>
                </a:extLst>
              </p:cNvPr>
              <p:cNvGrpSpPr/>
              <p:nvPr/>
            </p:nvGrpSpPr>
            <p:grpSpPr>
              <a:xfrm>
                <a:off x="165100" y="3676650"/>
                <a:ext cx="14782800" cy="5039993"/>
                <a:chOff x="165100" y="3676650"/>
                <a:chExt cx="14782800" cy="5039993"/>
              </a:xfrm>
            </p:grpSpPr>
            <p:grpSp>
              <p:nvGrpSpPr>
                <p:cNvPr id="45" name="Group 44">
                  <a:extLst>
                    <a:ext uri="{FF2B5EF4-FFF2-40B4-BE49-F238E27FC236}">
                      <a16:creationId xmlns:a16="http://schemas.microsoft.com/office/drawing/2014/main" id="{AC96E102-07C4-FE72-3315-BD03FE8A6DA6}"/>
                    </a:ext>
                  </a:extLst>
                </p:cNvPr>
                <p:cNvGrpSpPr/>
                <p:nvPr/>
              </p:nvGrpSpPr>
              <p:grpSpPr>
                <a:xfrm>
                  <a:off x="165100" y="3676655"/>
                  <a:ext cx="7499350" cy="3138493"/>
                  <a:chOff x="331788" y="3436937"/>
                  <a:chExt cx="7499350" cy="2950575"/>
                </a:xfrm>
              </p:grpSpPr>
              <p:sp>
                <p:nvSpPr>
                  <p:cNvPr id="43" name="object 4">
                    <a:extLst>
                      <a:ext uri="{FF2B5EF4-FFF2-40B4-BE49-F238E27FC236}">
                        <a16:creationId xmlns:a16="http://schemas.microsoft.com/office/drawing/2014/main" id="{0402C1EC-0C29-2775-4B19-82C9DD33CFF0}"/>
                      </a:ext>
                    </a:extLst>
                  </p:cNvPr>
                  <p:cNvSpPr txBox="1"/>
                  <p:nvPr/>
                </p:nvSpPr>
                <p:spPr>
                  <a:xfrm>
                    <a:off x="331788" y="3436937"/>
                    <a:ext cx="7499350" cy="473823"/>
                  </a:xfrm>
                  <a:prstGeom prst="rect">
                    <a:avLst/>
                  </a:prstGeom>
                  <a:solidFill>
                    <a:srgbClr val="F4BB66"/>
                  </a:solidFill>
                </p:spPr>
                <p:txBody>
                  <a:bodyPr lIns="0" tIns="67310" rIns="0" bIns="0">
                    <a:spAutoFit/>
                  </a:bodyPr>
                  <a:lstStyle/>
                  <a:p>
                    <a:pPr marL="100330" eaLnBrk="1" fontAlgn="auto" hangingPunct="1">
                      <a:spcBef>
                        <a:spcPts val="1800"/>
                      </a:spcBef>
                      <a:spcAft>
                        <a:spcPts val="1800"/>
                      </a:spcAft>
                      <a:defRPr/>
                    </a:pPr>
                    <a:r>
                      <a:rPr sz="1950" kern="0" spc="-10" dirty="0">
                        <a:solidFill>
                          <a:srgbClr val="FFFFFF"/>
                        </a:solidFill>
                        <a:latin typeface="Tahoma"/>
                        <a:cs typeface="Tahoma"/>
                      </a:rPr>
                      <a:t>ABSTRACT</a:t>
                    </a:r>
                    <a:endParaRPr sz="1950" kern="0" dirty="0">
                      <a:solidFill>
                        <a:sysClr val="windowText" lastClr="000000"/>
                      </a:solidFill>
                      <a:latin typeface="Tahoma"/>
                      <a:cs typeface="Tahoma"/>
                    </a:endParaRPr>
                  </a:p>
                </p:txBody>
              </p:sp>
              <p:sp>
                <p:nvSpPr>
                  <p:cNvPr id="44" name="object 7">
                    <a:extLst>
                      <a:ext uri="{FF2B5EF4-FFF2-40B4-BE49-F238E27FC236}">
                        <a16:creationId xmlns:a16="http://schemas.microsoft.com/office/drawing/2014/main" id="{4033D05A-1A91-C045-11C2-AE9A9EBB40EB}"/>
                      </a:ext>
                    </a:extLst>
                  </p:cNvPr>
                  <p:cNvSpPr txBox="1"/>
                  <p:nvPr/>
                </p:nvSpPr>
                <p:spPr>
                  <a:xfrm>
                    <a:off x="331788" y="3883019"/>
                    <a:ext cx="7499350" cy="2504493"/>
                  </a:xfrm>
                  <a:prstGeom prst="rect">
                    <a:avLst/>
                  </a:prstGeom>
                  <a:solidFill>
                    <a:srgbClr val="FFFFFF"/>
                  </a:solidFill>
                </p:spPr>
                <p:txBody>
                  <a:bodyPr lIns="0" tIns="115570" rIns="0" bIns="0">
                    <a:spAutoFit/>
                  </a:bodyPr>
                  <a:lstStyle>
                    <a:lvl1pPr marL="2190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07000"/>
                      </a:lnSpc>
                      <a:spcAft>
                        <a:spcPts val="800"/>
                      </a:spcAft>
                    </a:pPr>
                    <a:r>
                      <a:rPr lang="en-US" sz="1600" b="1" dirty="0">
                        <a:effectLst/>
                        <a:latin typeface="Lucida Bright" panose="02040602050505020304" pitchFamily="18" charset="0"/>
                        <a:ea typeface="Times New Roman" panose="02020603050405020304" pitchFamily="18" charset="0"/>
                        <a:cs typeface="Lucida Sans Unicode" panose="020B0602030504020204" pitchFamily="34" charset="0"/>
                      </a:rPr>
                      <a:t>Aim :</a:t>
                    </a:r>
                    <a:br>
                      <a:rPr lang="en-US" sz="1600" dirty="0">
                        <a:effectLst/>
                        <a:latin typeface="Lucida Bright" panose="02040602050505020304" pitchFamily="18" charset="0"/>
                        <a:ea typeface="Times New Roman" panose="02020603050405020304" pitchFamily="18" charset="0"/>
                        <a:cs typeface="Lucida Sans Unicode" panose="020B0602030504020204" pitchFamily="34" charset="0"/>
                      </a:rPr>
                    </a:br>
                    <a:r>
                      <a:rPr lang="en-US" sz="1600" dirty="0">
                        <a:effectLst/>
                        <a:latin typeface="Lucida Bright" panose="02040602050505020304" pitchFamily="18" charset="0"/>
                        <a:ea typeface="Times New Roman" panose="02020603050405020304" pitchFamily="18" charset="0"/>
                        <a:cs typeface="Lucida Sans Unicode" panose="020B0602030504020204" pitchFamily="34" charset="0"/>
                      </a:rPr>
                      <a:t>To develop an efficient and user-friendly coffee shop management system that automates and simplifies operations.</a:t>
                    </a:r>
                    <a:endParaRPr lang="en-US" sz="1600" dirty="0">
                      <a:effectLst/>
                      <a:latin typeface="Lucida Bright" panose="02040602050505020304" pitchFamily="18" charset="0"/>
                      <a:ea typeface="Calibri" panose="020F0502020204030204" pitchFamily="34" charset="0"/>
                      <a:cs typeface="Lucida Sans Unicode" panose="020B0602030504020204" pitchFamily="34" charset="0"/>
                    </a:endParaRPr>
                  </a:p>
                  <a:p>
                    <a:pPr>
                      <a:lnSpc>
                        <a:spcPct val="107000"/>
                      </a:lnSpc>
                      <a:spcAft>
                        <a:spcPts val="800"/>
                      </a:spcAft>
                    </a:pPr>
                    <a:r>
                      <a:rPr lang="en-US" sz="1600" b="1" dirty="0">
                        <a:effectLst/>
                        <a:latin typeface="Lucida Bright" panose="02040602050505020304" pitchFamily="18" charset="0"/>
                        <a:ea typeface="Times New Roman" panose="02020603050405020304" pitchFamily="18" charset="0"/>
                        <a:cs typeface="Lucida Sans Unicode" panose="020B0602030504020204" pitchFamily="34" charset="0"/>
                      </a:rPr>
                      <a:t>Objectives :</a:t>
                    </a:r>
                    <a:endParaRPr lang="en-US" sz="1600" dirty="0">
                      <a:effectLst/>
                      <a:latin typeface="Lucida Bright" panose="02040602050505020304" pitchFamily="18" charset="0"/>
                      <a:ea typeface="Calibri" panose="020F0502020204030204" pitchFamily="34" charset="0"/>
                      <a:cs typeface="Lucida Sans Unicode" panose="020B0602030504020204" pitchFamily="34" charset="0"/>
                    </a:endParaRPr>
                  </a:p>
                  <a:p>
                    <a:pPr>
                      <a:lnSpc>
                        <a:spcPct val="107000"/>
                      </a:lnSpc>
                      <a:spcAft>
                        <a:spcPts val="800"/>
                      </a:spcAft>
                    </a:pPr>
                    <a:r>
                      <a:rPr lang="en-US" sz="1600" dirty="0">
                        <a:effectLst/>
                        <a:latin typeface="Lucida Bright" panose="02040602050505020304" pitchFamily="18" charset="0"/>
                        <a:ea typeface="Times New Roman" panose="02020603050405020304" pitchFamily="18" charset="0"/>
                        <a:cs typeface="Lucida Sans Unicode" panose="020B0602030504020204" pitchFamily="34" charset="0"/>
                      </a:rPr>
                      <a:t>Replace outdated paper or Excel methods with user-friendly, digital systems.</a:t>
                    </a:r>
                    <a:endParaRPr lang="en-US" sz="1600" dirty="0">
                      <a:effectLst/>
                      <a:latin typeface="Lucida Bright" panose="02040602050505020304" pitchFamily="18" charset="0"/>
                      <a:ea typeface="Calibri" panose="020F0502020204030204" pitchFamily="34" charset="0"/>
                      <a:cs typeface="Lucida Sans Unicode" panose="020B0602030504020204" pitchFamily="34" charset="0"/>
                    </a:endParaRPr>
                  </a:p>
                  <a:p>
                    <a:pPr>
                      <a:lnSpc>
                        <a:spcPct val="107000"/>
                      </a:lnSpc>
                      <a:spcAft>
                        <a:spcPts val="800"/>
                      </a:spcAft>
                    </a:pPr>
                    <a:r>
                      <a:rPr lang="en-US" sz="1600" b="1" dirty="0">
                        <a:effectLst/>
                        <a:latin typeface="Lucida Bright" panose="02040602050505020304" pitchFamily="18" charset="0"/>
                        <a:ea typeface="Times New Roman" panose="02020603050405020304" pitchFamily="18" charset="0"/>
                        <a:cs typeface="Lucida Sans Unicode" panose="020B0602030504020204" pitchFamily="34" charset="0"/>
                      </a:rPr>
                      <a:t>Technologies :</a:t>
                    </a:r>
                    <a:br>
                      <a:rPr lang="en-US" sz="1600" dirty="0">
                        <a:effectLst/>
                        <a:latin typeface="Lucida Bright" panose="02040602050505020304" pitchFamily="18" charset="0"/>
                        <a:ea typeface="Times New Roman" panose="02020603050405020304" pitchFamily="18" charset="0"/>
                        <a:cs typeface="Lucida Sans Unicode" panose="020B0602030504020204" pitchFamily="34" charset="0"/>
                      </a:rPr>
                    </a:br>
                    <a:r>
                      <a:rPr lang="en-US" sz="1600" dirty="0">
                        <a:effectLst/>
                        <a:latin typeface="Lucida Bright" panose="02040602050505020304" pitchFamily="18" charset="0"/>
                        <a:ea typeface="Times New Roman" panose="02020603050405020304" pitchFamily="18" charset="0"/>
                        <a:cs typeface="Lucida Sans Unicode" panose="020B0602030504020204" pitchFamily="34" charset="0"/>
                      </a:rPr>
                      <a:t>Java (Swing for GUI), MySQL for Database Management, NetBeans IDE.</a:t>
                    </a:r>
                  </a:p>
                </p:txBody>
              </p:sp>
            </p:grpSp>
            <p:grpSp>
              <p:nvGrpSpPr>
                <p:cNvPr id="48" name="Group 47">
                  <a:extLst>
                    <a:ext uri="{FF2B5EF4-FFF2-40B4-BE49-F238E27FC236}">
                      <a16:creationId xmlns:a16="http://schemas.microsoft.com/office/drawing/2014/main" id="{C7541870-1498-BD74-D1E8-A290A18DC4AE}"/>
                    </a:ext>
                  </a:extLst>
                </p:cNvPr>
                <p:cNvGrpSpPr/>
                <p:nvPr/>
              </p:nvGrpSpPr>
              <p:grpSpPr>
                <a:xfrm>
                  <a:off x="7930748" y="3676650"/>
                  <a:ext cx="7017152" cy="5039993"/>
                  <a:chOff x="8237891" y="3435350"/>
                  <a:chExt cx="7503759" cy="5821994"/>
                </a:xfrm>
              </p:grpSpPr>
              <p:sp>
                <p:nvSpPr>
                  <p:cNvPr id="46" name="object 16">
                    <a:extLst>
                      <a:ext uri="{FF2B5EF4-FFF2-40B4-BE49-F238E27FC236}">
                        <a16:creationId xmlns:a16="http://schemas.microsoft.com/office/drawing/2014/main" id="{79716988-DD80-47DA-8D4D-C3635D0A238F}"/>
                      </a:ext>
                    </a:extLst>
                  </p:cNvPr>
                  <p:cNvSpPr txBox="1"/>
                  <p:nvPr/>
                </p:nvSpPr>
                <p:spPr>
                  <a:xfrm>
                    <a:off x="8243888" y="3435350"/>
                    <a:ext cx="7497762" cy="623785"/>
                  </a:xfrm>
                  <a:prstGeom prst="rect">
                    <a:avLst/>
                  </a:prstGeom>
                  <a:solidFill>
                    <a:srgbClr val="F4BB66"/>
                  </a:solidFill>
                </p:spPr>
                <p:txBody>
                  <a:bodyPr lIns="0" tIns="67310" rIns="0" bIns="0">
                    <a:spAutoFit/>
                  </a:bodyPr>
                  <a:lstStyle/>
                  <a:p>
                    <a:pPr marL="100330" eaLnBrk="1" fontAlgn="auto" hangingPunct="1">
                      <a:spcBef>
                        <a:spcPts val="530"/>
                      </a:spcBef>
                      <a:spcAft>
                        <a:spcPts val="0"/>
                      </a:spcAft>
                      <a:defRPr/>
                    </a:pPr>
                    <a:r>
                      <a:rPr lang="en-US" sz="1950" kern="0" spc="-65" dirty="0">
                        <a:solidFill>
                          <a:srgbClr val="FFFFFF"/>
                        </a:solidFill>
                        <a:latin typeface="Tahoma"/>
                        <a:cs typeface="Tahoma"/>
                      </a:rPr>
                      <a:t>Main Tasks</a:t>
                    </a:r>
                    <a:endParaRPr sz="1950" kern="0" dirty="0">
                      <a:solidFill>
                        <a:sysClr val="windowText" lastClr="000000"/>
                      </a:solidFill>
                      <a:latin typeface="Tahoma"/>
                      <a:cs typeface="Tahoma"/>
                    </a:endParaRPr>
                  </a:p>
                </p:txBody>
              </p:sp>
              <p:sp>
                <p:nvSpPr>
                  <p:cNvPr id="47" name="object 17">
                    <a:extLst>
                      <a:ext uri="{FF2B5EF4-FFF2-40B4-BE49-F238E27FC236}">
                        <a16:creationId xmlns:a16="http://schemas.microsoft.com/office/drawing/2014/main" id="{99DC58A3-9F9E-0549-6087-F49CAD7DF666}"/>
                      </a:ext>
                    </a:extLst>
                  </p:cNvPr>
                  <p:cNvSpPr txBox="1"/>
                  <p:nvPr/>
                </p:nvSpPr>
                <p:spPr>
                  <a:xfrm>
                    <a:off x="8237891" y="4017543"/>
                    <a:ext cx="7499350" cy="5239801"/>
                  </a:xfrm>
                  <a:prstGeom prst="rect">
                    <a:avLst/>
                  </a:prstGeom>
                  <a:solidFill>
                    <a:srgbClr val="FFFFFF"/>
                  </a:solidFill>
                </p:spPr>
                <p:txBody>
                  <a:bodyPr lIns="0" tIns="220980" rIns="0" bIns="0">
                    <a:spAutoFit/>
                  </a:bodyPr>
                  <a:lstStyle>
                    <a:lvl1pPr marL="612775" indent="-222250">
                      <a:tabLst>
                        <a:tab pos="612775" algn="l"/>
                      </a:tabLst>
                      <a:defRPr>
                        <a:solidFill>
                          <a:schemeClr val="tx1"/>
                        </a:solidFill>
                        <a:latin typeface="Arial" panose="020B0604020202020204" pitchFamily="34" charset="0"/>
                      </a:defRPr>
                    </a:lvl1pPr>
                    <a:lvl2pPr marL="742950" indent="-285750">
                      <a:tabLst>
                        <a:tab pos="612775" algn="l"/>
                      </a:tabLst>
                      <a:defRPr>
                        <a:solidFill>
                          <a:schemeClr val="tx1"/>
                        </a:solidFill>
                        <a:latin typeface="Arial" panose="020B0604020202020204" pitchFamily="34" charset="0"/>
                      </a:defRPr>
                    </a:lvl2pPr>
                    <a:lvl3pPr marL="1143000" indent="-228600">
                      <a:tabLst>
                        <a:tab pos="612775" algn="l"/>
                      </a:tabLst>
                      <a:defRPr>
                        <a:solidFill>
                          <a:schemeClr val="tx1"/>
                        </a:solidFill>
                        <a:latin typeface="Arial" panose="020B0604020202020204" pitchFamily="34" charset="0"/>
                      </a:defRPr>
                    </a:lvl3pPr>
                    <a:lvl4pPr marL="1600200" indent="-228600">
                      <a:tabLst>
                        <a:tab pos="612775" algn="l"/>
                      </a:tabLst>
                      <a:defRPr>
                        <a:solidFill>
                          <a:schemeClr val="tx1"/>
                        </a:solidFill>
                        <a:latin typeface="Arial" panose="020B0604020202020204" pitchFamily="34" charset="0"/>
                      </a:defRPr>
                    </a:lvl4pPr>
                    <a:lvl5pPr marL="2057400" indent="-228600">
                      <a:tabLst>
                        <a:tab pos="612775" algn="l"/>
                      </a:tabLst>
                      <a:defRPr>
                        <a:solidFill>
                          <a:schemeClr val="tx1"/>
                        </a:solidFill>
                        <a:latin typeface="Arial" panose="020B0604020202020204" pitchFamily="34" charset="0"/>
                      </a:defRPr>
                    </a:lvl5pPr>
                    <a:lvl6pPr marL="2514600" indent="-228600" eaLnBrk="0" fontAlgn="base" hangingPunct="0">
                      <a:spcBef>
                        <a:spcPct val="0"/>
                      </a:spcBef>
                      <a:spcAft>
                        <a:spcPct val="0"/>
                      </a:spcAft>
                      <a:tabLst>
                        <a:tab pos="612775" algn="l"/>
                      </a:tabLst>
                      <a:defRPr>
                        <a:solidFill>
                          <a:schemeClr val="tx1"/>
                        </a:solidFill>
                        <a:latin typeface="Arial" panose="020B0604020202020204" pitchFamily="34" charset="0"/>
                      </a:defRPr>
                    </a:lvl6pPr>
                    <a:lvl7pPr marL="2971800" indent="-228600" eaLnBrk="0" fontAlgn="base" hangingPunct="0">
                      <a:spcBef>
                        <a:spcPct val="0"/>
                      </a:spcBef>
                      <a:spcAft>
                        <a:spcPct val="0"/>
                      </a:spcAft>
                      <a:tabLst>
                        <a:tab pos="612775" algn="l"/>
                      </a:tabLst>
                      <a:defRPr>
                        <a:solidFill>
                          <a:schemeClr val="tx1"/>
                        </a:solidFill>
                        <a:latin typeface="Arial" panose="020B0604020202020204" pitchFamily="34" charset="0"/>
                      </a:defRPr>
                    </a:lvl7pPr>
                    <a:lvl8pPr marL="3429000" indent="-228600" eaLnBrk="0" fontAlgn="base" hangingPunct="0">
                      <a:spcBef>
                        <a:spcPct val="0"/>
                      </a:spcBef>
                      <a:spcAft>
                        <a:spcPct val="0"/>
                      </a:spcAft>
                      <a:tabLst>
                        <a:tab pos="612775" algn="l"/>
                      </a:tabLst>
                      <a:defRPr>
                        <a:solidFill>
                          <a:schemeClr val="tx1"/>
                        </a:solidFill>
                        <a:latin typeface="Arial" panose="020B0604020202020204" pitchFamily="34" charset="0"/>
                      </a:defRPr>
                    </a:lvl8pPr>
                    <a:lvl9pPr marL="3886200" indent="-228600" eaLnBrk="0" fontAlgn="base" hangingPunct="0">
                      <a:spcBef>
                        <a:spcPct val="0"/>
                      </a:spcBef>
                      <a:spcAft>
                        <a:spcPct val="0"/>
                      </a:spcAft>
                      <a:tabLst>
                        <a:tab pos="612775" algn="l"/>
                      </a:tabLst>
                      <a:defRPr>
                        <a:solidFill>
                          <a:schemeClr val="tx1"/>
                        </a:solidFill>
                        <a:latin typeface="Arial" panose="020B0604020202020204" pitchFamily="34" charset="0"/>
                      </a:defRPr>
                    </a:lvl9pPr>
                  </a:lstStyle>
                  <a:p>
                    <a:pPr>
                      <a:lnSpc>
                        <a:spcPct val="107000"/>
                      </a:lnSpc>
                      <a:spcAft>
                        <a:spcPts val="800"/>
                      </a:spcAft>
                    </a:pPr>
                    <a:r>
                      <a:rPr lang="en-US" b="1" dirty="0">
                        <a:effectLst/>
                        <a:latin typeface="Tahoma" panose="020B0604030504040204" pitchFamily="34" charset="0"/>
                        <a:ea typeface="Tahoma" panose="020B0604030504040204" pitchFamily="34" charset="0"/>
                        <a:cs typeface="Tahoma" panose="020B0604030504040204" pitchFamily="34" charset="0"/>
                      </a:rPr>
                      <a:t>🔑 Admin Functions</a:t>
                    </a:r>
                    <a:endParaRPr lang="en-US" dirty="0">
                      <a:effectLst/>
                      <a:latin typeface="Tahoma" panose="020B0604030504040204" pitchFamily="34" charset="0"/>
                      <a:ea typeface="Tahoma" panose="020B0604030504040204" pitchFamily="34" charset="0"/>
                      <a:cs typeface="Tahoma" panose="020B0604030504040204" pitchFamily="34" charset="0"/>
                    </a:endParaRPr>
                  </a:p>
                  <a:p>
                    <a:pPr marL="415925" lvl="1">
                      <a:lnSpc>
                        <a:spcPct val="107000"/>
                      </a:lnSpc>
                      <a:spcAft>
                        <a:spcPts val="800"/>
                      </a:spcAft>
                      <a:buSzPct val="100000"/>
                      <a:buFont typeface="Arial" panose="020B0604020202020204" pitchFamily="34" charset="0"/>
                      <a:buChar char="•"/>
                      <a:tabLst>
                        <a:tab pos="457200" algn="l"/>
                      </a:tabLst>
                    </a:pPr>
                    <a:r>
                      <a:rPr lang="en-US" sz="1550" b="1" dirty="0">
                        <a:effectLst/>
                        <a:latin typeface="Lucida Bright" panose="02040602050505020304" pitchFamily="18" charset="0"/>
                        <a:ea typeface="Times New Roman" panose="02020603050405020304" pitchFamily="18" charset="0"/>
                        <a:cs typeface="Arial" panose="020B0604020202020204" pitchFamily="34" charset="0"/>
                      </a:rPr>
                      <a:t>User Management :</a:t>
                    </a:r>
                    <a:r>
                      <a:rPr lang="en-US" sz="1550" dirty="0">
                        <a:effectLst/>
                        <a:latin typeface="Lucida Bright" panose="02040602050505020304" pitchFamily="18" charset="0"/>
                        <a:ea typeface="Times New Roman" panose="02020603050405020304" pitchFamily="18" charset="0"/>
                        <a:cs typeface="Arial" panose="020B0604020202020204" pitchFamily="34" charset="0"/>
                      </a:rPr>
                      <a:t> Manage users and assign roles.</a:t>
                    </a:r>
                    <a:endParaRPr lang="en-US" sz="1550" dirty="0">
                      <a:effectLst/>
                      <a:latin typeface="Lucida Bright" panose="02040602050505020304" pitchFamily="18" charset="0"/>
                      <a:ea typeface="Calibri" panose="020F0502020204030204" pitchFamily="34" charset="0"/>
                      <a:cs typeface="Arial" panose="020B0604020202020204" pitchFamily="34" charset="0"/>
                    </a:endParaRPr>
                  </a:p>
                  <a:p>
                    <a:pPr marL="415925" lvl="1">
                      <a:lnSpc>
                        <a:spcPct val="107000"/>
                      </a:lnSpc>
                      <a:spcAft>
                        <a:spcPts val="800"/>
                      </a:spcAft>
                      <a:buSzPct val="100000"/>
                      <a:buFont typeface="Arial" panose="020B0604020202020204" pitchFamily="34" charset="0"/>
                      <a:buChar char="•"/>
                      <a:tabLst>
                        <a:tab pos="457200" algn="l"/>
                      </a:tabLst>
                    </a:pPr>
                    <a:r>
                      <a:rPr lang="en-US" sz="1550" b="1" dirty="0">
                        <a:effectLst/>
                        <a:latin typeface="Lucida Bright" panose="02040602050505020304" pitchFamily="18" charset="0"/>
                        <a:ea typeface="Times New Roman" panose="02020603050405020304" pitchFamily="18" charset="0"/>
                        <a:cs typeface="Arial" panose="020B0604020202020204" pitchFamily="34" charset="0"/>
                      </a:rPr>
                      <a:t>Menu Management :</a:t>
                    </a:r>
                    <a:r>
                      <a:rPr lang="en-US" sz="1550" dirty="0">
                        <a:effectLst/>
                        <a:latin typeface="Lucida Bright" panose="02040602050505020304" pitchFamily="18" charset="0"/>
                        <a:ea typeface="Times New Roman" panose="02020603050405020304" pitchFamily="18" charset="0"/>
                        <a:cs typeface="Arial" panose="020B0604020202020204" pitchFamily="34" charset="0"/>
                      </a:rPr>
                      <a:t> Add, edit, and update menu items.</a:t>
                    </a:r>
                    <a:endParaRPr lang="en-US" sz="1550" dirty="0">
                      <a:effectLst/>
                      <a:latin typeface="Lucida Bright" panose="02040602050505020304" pitchFamily="18" charset="0"/>
                      <a:ea typeface="Calibri" panose="020F0502020204030204" pitchFamily="34" charset="0"/>
                      <a:cs typeface="Arial" panose="020B0604020202020204" pitchFamily="34" charset="0"/>
                    </a:endParaRPr>
                  </a:p>
                  <a:p>
                    <a:pPr marL="415925" lvl="1">
                      <a:lnSpc>
                        <a:spcPct val="107000"/>
                      </a:lnSpc>
                      <a:spcAft>
                        <a:spcPts val="800"/>
                      </a:spcAft>
                      <a:buSzPct val="100000"/>
                      <a:buFont typeface="Arial" panose="020B0604020202020204" pitchFamily="34" charset="0"/>
                      <a:buChar char="•"/>
                      <a:tabLst>
                        <a:tab pos="457200" algn="l"/>
                      </a:tabLst>
                    </a:pPr>
                    <a:r>
                      <a:rPr lang="en-US" sz="1550" b="1" dirty="0">
                        <a:effectLst/>
                        <a:latin typeface="Lucida Bright" panose="02040602050505020304" pitchFamily="18" charset="0"/>
                        <a:ea typeface="Times New Roman" panose="02020603050405020304" pitchFamily="18" charset="0"/>
                        <a:cs typeface="Arial" panose="020B0604020202020204" pitchFamily="34" charset="0"/>
                      </a:rPr>
                      <a:t>Books Inventory :</a:t>
                    </a:r>
                    <a:r>
                      <a:rPr lang="en-US" sz="1550" dirty="0">
                        <a:effectLst/>
                        <a:latin typeface="Lucida Bright" panose="02040602050505020304" pitchFamily="18" charset="0"/>
                        <a:ea typeface="Times New Roman" panose="02020603050405020304" pitchFamily="18" charset="0"/>
                        <a:cs typeface="Arial" panose="020B0604020202020204" pitchFamily="34" charset="0"/>
                      </a:rPr>
                      <a:t> Track available books and borrowing records.</a:t>
                    </a:r>
                    <a:endParaRPr lang="en-US" sz="1550" dirty="0">
                      <a:effectLst/>
                      <a:latin typeface="Lucida Bright" panose="02040602050505020304" pitchFamily="18" charset="0"/>
                      <a:ea typeface="Calibri" panose="020F0502020204030204" pitchFamily="34" charset="0"/>
                      <a:cs typeface="Arial" panose="020B0604020202020204" pitchFamily="34" charset="0"/>
                    </a:endParaRPr>
                  </a:p>
                  <a:p>
                    <a:pPr marL="415925" lvl="1">
                      <a:lnSpc>
                        <a:spcPct val="107000"/>
                      </a:lnSpc>
                      <a:spcAft>
                        <a:spcPts val="800"/>
                      </a:spcAft>
                      <a:buSzPct val="100000"/>
                      <a:buFont typeface="Arial" panose="020B0604020202020204" pitchFamily="34" charset="0"/>
                      <a:buChar char="•"/>
                      <a:tabLst>
                        <a:tab pos="457200" algn="l"/>
                      </a:tabLst>
                    </a:pPr>
                    <a:r>
                      <a:rPr lang="en-US" sz="1550" b="1" dirty="0">
                        <a:effectLst/>
                        <a:latin typeface="Lucida Bright" panose="02040602050505020304" pitchFamily="18" charset="0"/>
                        <a:ea typeface="Times New Roman" panose="02020603050405020304" pitchFamily="18" charset="0"/>
                        <a:cs typeface="Arial" panose="020B0604020202020204" pitchFamily="34" charset="0"/>
                      </a:rPr>
                      <a:t>Supplier Management :</a:t>
                    </a:r>
                    <a:r>
                      <a:rPr lang="en-US" sz="1550" dirty="0">
                        <a:effectLst/>
                        <a:latin typeface="Lucida Bright" panose="02040602050505020304" pitchFamily="18" charset="0"/>
                        <a:ea typeface="Times New Roman" panose="02020603050405020304" pitchFamily="18" charset="0"/>
                        <a:cs typeface="Arial" panose="020B0604020202020204" pitchFamily="34" charset="0"/>
                      </a:rPr>
                      <a:t> Record suppliers and deliveries.</a:t>
                    </a:r>
                    <a:endParaRPr lang="en-US" sz="1550" dirty="0">
                      <a:effectLst/>
                      <a:latin typeface="Lucida Bright" panose="02040602050505020304" pitchFamily="18" charset="0"/>
                      <a:ea typeface="Calibri" panose="020F0502020204030204" pitchFamily="34" charset="0"/>
                      <a:cs typeface="Arial" panose="020B0604020202020204" pitchFamily="34" charset="0"/>
                    </a:endParaRPr>
                  </a:p>
                  <a:p>
                    <a:pPr marL="415925" lvl="1">
                      <a:lnSpc>
                        <a:spcPct val="107000"/>
                      </a:lnSpc>
                      <a:spcAft>
                        <a:spcPts val="800"/>
                      </a:spcAft>
                      <a:buSzPct val="100000"/>
                      <a:buFont typeface="Arial" panose="020B0604020202020204" pitchFamily="34" charset="0"/>
                      <a:buChar char="•"/>
                      <a:tabLst>
                        <a:tab pos="457200" algn="l"/>
                      </a:tabLst>
                    </a:pPr>
                    <a:r>
                      <a:rPr lang="en-US" sz="1550" b="1" dirty="0">
                        <a:effectLst/>
                        <a:latin typeface="Lucida Bright" panose="02040602050505020304" pitchFamily="18" charset="0"/>
                        <a:ea typeface="Times New Roman" panose="02020603050405020304" pitchFamily="18" charset="0"/>
                        <a:cs typeface="Arial" panose="020B0604020202020204" pitchFamily="34" charset="0"/>
                      </a:rPr>
                      <a:t>Reports &amp; Analytics :</a:t>
                    </a:r>
                    <a:r>
                      <a:rPr lang="en-US" sz="1550" dirty="0">
                        <a:effectLst/>
                        <a:latin typeface="Lucida Bright" panose="02040602050505020304" pitchFamily="18" charset="0"/>
                        <a:ea typeface="Times New Roman" panose="02020603050405020304" pitchFamily="18" charset="0"/>
                        <a:cs typeface="Arial" panose="020B0604020202020204" pitchFamily="34" charset="0"/>
                      </a:rPr>
                      <a:t> Generate sales, inventory, and customer reports.</a:t>
                    </a:r>
                    <a:endParaRPr lang="en-US" sz="1550" dirty="0">
                      <a:effectLst/>
                      <a:latin typeface="Lucida Bright" panose="02040602050505020304" pitchFamily="18" charset="0"/>
                      <a:ea typeface="Calibri" panose="020F0502020204030204" pitchFamily="34" charset="0"/>
                      <a:cs typeface="Arial" panose="020B0604020202020204" pitchFamily="34" charset="0"/>
                    </a:endParaRPr>
                  </a:p>
                  <a:p>
                    <a:pPr marL="612775" lvl="1" indent="-222250">
                      <a:lnSpc>
                        <a:spcPct val="107000"/>
                      </a:lnSpc>
                      <a:spcAft>
                        <a:spcPts val="800"/>
                      </a:spcAft>
                      <a:buSzPct val="100000"/>
                    </a:pPr>
                    <a:r>
                      <a:rPr lang="en-US" b="1" dirty="0">
                        <a:latin typeface="Tahoma" panose="020B0604030504040204" pitchFamily="34" charset="0"/>
                        <a:ea typeface="Tahoma" panose="020B0604030504040204" pitchFamily="34" charset="0"/>
                        <a:cs typeface="Tahoma" panose="020B0604030504040204" pitchFamily="34" charset="0"/>
                      </a:rPr>
                      <a:t>👨‍💼 Staff (Cashier) Functions</a:t>
                    </a:r>
                  </a:p>
                  <a:p>
                    <a:pPr marL="415925" lvl="1">
                      <a:lnSpc>
                        <a:spcPct val="107000"/>
                      </a:lnSpc>
                      <a:spcAft>
                        <a:spcPts val="800"/>
                      </a:spcAft>
                      <a:buSzPct val="100000"/>
                      <a:buFont typeface="Arial" panose="020B0604020202020204" pitchFamily="34" charset="0"/>
                      <a:buChar char="•"/>
                      <a:tabLst>
                        <a:tab pos="457200" algn="l"/>
                      </a:tabLst>
                    </a:pPr>
                    <a:r>
                      <a:rPr lang="en-US" sz="1550" b="1">
                        <a:latin typeface="Lucida Bright" panose="02040602050505020304" pitchFamily="18" charset="0"/>
                        <a:cs typeface="Arial" panose="020B0604020202020204" pitchFamily="34" charset="0"/>
                      </a:rPr>
                      <a:t>Create Order : </a:t>
                    </a:r>
                    <a:r>
                      <a:rPr lang="en-US" sz="1550" dirty="0">
                        <a:latin typeface="Lucida Bright" panose="02040602050505020304" pitchFamily="18" charset="0"/>
                        <a:cs typeface="Arial" panose="020B0604020202020204" pitchFamily="34" charset="0"/>
                      </a:rPr>
                      <a:t>Process dine-in, takeaway, or delivery orders.</a:t>
                    </a:r>
                  </a:p>
                  <a:p>
                    <a:pPr marL="415925" lvl="1">
                      <a:lnSpc>
                        <a:spcPct val="107000"/>
                      </a:lnSpc>
                      <a:spcAft>
                        <a:spcPts val="800"/>
                      </a:spcAft>
                      <a:buSzPct val="100000"/>
                      <a:buFont typeface="Arial" panose="020B0604020202020204" pitchFamily="34" charset="0"/>
                      <a:buChar char="•"/>
                      <a:tabLst>
                        <a:tab pos="457200" algn="l"/>
                      </a:tabLst>
                    </a:pPr>
                    <a:r>
                      <a:rPr lang="en-US" sz="1550" b="1" dirty="0">
                        <a:latin typeface="Lucida Bright" panose="02040602050505020304" pitchFamily="18" charset="0"/>
                        <a:cs typeface="Arial" panose="020B0604020202020204" pitchFamily="34" charset="0"/>
                      </a:rPr>
                      <a:t>Customer Service : </a:t>
                    </a:r>
                    <a:r>
                      <a:rPr lang="en-US" sz="1550" dirty="0">
                        <a:latin typeface="Lucida Bright" panose="02040602050505020304" pitchFamily="18" charset="0"/>
                        <a:cs typeface="Arial" panose="020B0604020202020204" pitchFamily="34" charset="0"/>
                      </a:rPr>
                      <a:t>Register/update customer details and feedback.</a:t>
                    </a:r>
                  </a:p>
                  <a:p>
                    <a:pPr marL="415925" lvl="1">
                      <a:lnSpc>
                        <a:spcPct val="107000"/>
                      </a:lnSpc>
                      <a:spcAft>
                        <a:spcPts val="800"/>
                      </a:spcAft>
                      <a:buSzPct val="100000"/>
                      <a:buFont typeface="Arial" panose="020B0604020202020204" pitchFamily="34" charset="0"/>
                      <a:buChar char="•"/>
                      <a:tabLst>
                        <a:tab pos="457200" algn="l"/>
                      </a:tabLst>
                    </a:pPr>
                    <a:r>
                      <a:rPr lang="en-US" sz="1550" b="1" dirty="0">
                        <a:latin typeface="Lucida Bright" panose="02040602050505020304" pitchFamily="18" charset="0"/>
                        <a:cs typeface="Arial" panose="020B0604020202020204" pitchFamily="34" charset="0"/>
                      </a:rPr>
                      <a:t>Book Borrowing : </a:t>
                    </a:r>
                    <a:r>
                      <a:rPr lang="en-US" sz="1550" dirty="0">
                        <a:latin typeface="Lucida Bright" panose="02040602050505020304" pitchFamily="18" charset="0"/>
                        <a:cs typeface="Arial" panose="020B0604020202020204" pitchFamily="34" charset="0"/>
                      </a:rPr>
                      <a:t>Manage borrowing and returning of books.</a:t>
                    </a:r>
                  </a:p>
                  <a:p>
                    <a:pPr marL="415925" lvl="1">
                      <a:lnSpc>
                        <a:spcPct val="107000"/>
                      </a:lnSpc>
                      <a:spcAft>
                        <a:spcPts val="800"/>
                      </a:spcAft>
                      <a:buSzPct val="100000"/>
                      <a:buFont typeface="Arial" panose="020B0604020202020204" pitchFamily="34" charset="0"/>
                      <a:buChar char="•"/>
                      <a:tabLst>
                        <a:tab pos="457200" algn="l"/>
                      </a:tabLst>
                    </a:pPr>
                    <a:r>
                      <a:rPr lang="en-US" sz="1550" b="1" dirty="0">
                        <a:latin typeface="Lucida Bright" panose="02040602050505020304" pitchFamily="18" charset="0"/>
                        <a:cs typeface="Arial" panose="020B0604020202020204" pitchFamily="34" charset="0"/>
                      </a:rPr>
                      <a:t>Alerts Handling : </a:t>
                    </a:r>
                    <a:r>
                      <a:rPr lang="en-US" sz="1550" dirty="0">
                        <a:latin typeface="Lucida Bright" panose="02040602050505020304" pitchFamily="18" charset="0"/>
                        <a:cs typeface="Arial" panose="020B0604020202020204" pitchFamily="34" charset="0"/>
                      </a:rPr>
                      <a:t>Receive low stock, delivery, or overdue alerts.</a:t>
                    </a:r>
                    <a:endParaRPr lang="en-US" altLang="en-US" sz="1550" dirty="0">
                      <a:latin typeface="Lucida Bright" panose="02040602050505020304" pitchFamily="18" charset="0"/>
                      <a:cs typeface="Arial" panose="020B0604020202020204" pitchFamily="34" charset="0"/>
                    </a:endParaRPr>
                  </a:p>
                </p:txBody>
              </p:sp>
            </p:grpSp>
          </p:grpSp>
          <p:grpSp>
            <p:nvGrpSpPr>
              <p:cNvPr id="127" name="Group 126">
                <a:extLst>
                  <a:ext uri="{FF2B5EF4-FFF2-40B4-BE49-F238E27FC236}">
                    <a16:creationId xmlns:a16="http://schemas.microsoft.com/office/drawing/2014/main" id="{CEB3824F-C3E2-51AB-8D4E-3F05FBACACB9}"/>
                  </a:ext>
                </a:extLst>
              </p:cNvPr>
              <p:cNvGrpSpPr/>
              <p:nvPr/>
            </p:nvGrpSpPr>
            <p:grpSpPr>
              <a:xfrm>
                <a:off x="7927797" y="9039055"/>
                <a:ext cx="7022848" cy="6372395"/>
                <a:chOff x="7927797" y="9039055"/>
                <a:chExt cx="7022848" cy="6372395"/>
              </a:xfrm>
            </p:grpSpPr>
            <p:grpSp>
              <p:nvGrpSpPr>
                <p:cNvPr id="91" name="Group 90">
                  <a:extLst>
                    <a:ext uri="{FF2B5EF4-FFF2-40B4-BE49-F238E27FC236}">
                      <a16:creationId xmlns:a16="http://schemas.microsoft.com/office/drawing/2014/main" id="{D22AB2EF-F634-D72C-B568-D8E588B562A2}"/>
                    </a:ext>
                  </a:extLst>
                </p:cNvPr>
                <p:cNvGrpSpPr/>
                <p:nvPr/>
              </p:nvGrpSpPr>
              <p:grpSpPr>
                <a:xfrm>
                  <a:off x="7927797" y="9039055"/>
                  <a:ext cx="7022848" cy="6372395"/>
                  <a:chOff x="7927900" y="8869805"/>
                  <a:chExt cx="7022848" cy="6372395"/>
                </a:xfrm>
              </p:grpSpPr>
              <p:sp>
                <p:nvSpPr>
                  <p:cNvPr id="87" name="object 5">
                    <a:extLst>
                      <a:ext uri="{FF2B5EF4-FFF2-40B4-BE49-F238E27FC236}">
                        <a16:creationId xmlns:a16="http://schemas.microsoft.com/office/drawing/2014/main" id="{E81EDEA0-3324-6A76-3D4A-0F79C97BB5DB}"/>
                      </a:ext>
                    </a:extLst>
                  </p:cNvPr>
                  <p:cNvSpPr>
                    <a:spLocks/>
                  </p:cNvSpPr>
                  <p:nvPr/>
                </p:nvSpPr>
                <p:spPr bwMode="auto">
                  <a:xfrm>
                    <a:off x="7927900" y="9266200"/>
                    <a:ext cx="7020000" cy="5976000"/>
                  </a:xfrm>
                  <a:custGeom>
                    <a:avLst/>
                    <a:gdLst>
                      <a:gd name="T0" fmla="*/ 0 w 7498080"/>
                      <a:gd name="T1" fmla="*/ 6664136 h 6664325"/>
                      <a:gd name="T2" fmla="*/ 7498084 w 7498080"/>
                      <a:gd name="T3" fmla="*/ 6664136 h 6664325"/>
                      <a:gd name="T4" fmla="*/ 7498084 w 7498080"/>
                      <a:gd name="T5" fmla="*/ 0 h 6664325"/>
                      <a:gd name="T6" fmla="*/ 0 w 7498080"/>
                      <a:gd name="T7" fmla="*/ 0 h 6664325"/>
                      <a:gd name="T8" fmla="*/ 0 w 7498080"/>
                      <a:gd name="T9" fmla="*/ 6664136 h 6664325"/>
                    </a:gdLst>
                    <a:ahLst/>
                    <a:cxnLst>
                      <a:cxn ang="0">
                        <a:pos x="T0" y="T1"/>
                      </a:cxn>
                      <a:cxn ang="0">
                        <a:pos x="T2" y="T3"/>
                      </a:cxn>
                      <a:cxn ang="0">
                        <a:pos x="T4" y="T5"/>
                      </a:cxn>
                      <a:cxn ang="0">
                        <a:pos x="T6" y="T7"/>
                      </a:cxn>
                      <a:cxn ang="0">
                        <a:pos x="T8" y="T9"/>
                      </a:cxn>
                    </a:cxnLst>
                    <a:rect l="0" t="0" r="r" b="b"/>
                    <a:pathLst>
                      <a:path w="7498080" h="6664325">
                        <a:moveTo>
                          <a:pt x="0" y="6664136"/>
                        </a:moveTo>
                        <a:lnTo>
                          <a:pt x="7498084" y="6664136"/>
                        </a:lnTo>
                        <a:lnTo>
                          <a:pt x="7498084" y="0"/>
                        </a:lnTo>
                        <a:lnTo>
                          <a:pt x="0" y="0"/>
                        </a:lnTo>
                        <a:lnTo>
                          <a:pt x="0" y="666413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dirty="0"/>
                  </a:p>
                </p:txBody>
              </p:sp>
              <p:sp>
                <p:nvSpPr>
                  <p:cNvPr id="88" name="object 6">
                    <a:extLst>
                      <a:ext uri="{FF2B5EF4-FFF2-40B4-BE49-F238E27FC236}">
                        <a16:creationId xmlns:a16="http://schemas.microsoft.com/office/drawing/2014/main" id="{9E341CB9-0890-9391-15C2-CA6501820914}"/>
                      </a:ext>
                    </a:extLst>
                  </p:cNvPr>
                  <p:cNvSpPr txBox="1"/>
                  <p:nvPr/>
                </p:nvSpPr>
                <p:spPr>
                  <a:xfrm>
                    <a:off x="7930748" y="8869805"/>
                    <a:ext cx="7020000" cy="504000"/>
                  </a:xfrm>
                  <a:prstGeom prst="rect">
                    <a:avLst/>
                  </a:prstGeom>
                  <a:solidFill>
                    <a:srgbClr val="F4BB66"/>
                  </a:solidFill>
                </p:spPr>
                <p:txBody>
                  <a:bodyPr lIns="0" tIns="67310" rIns="0" bIns="0">
                    <a:spAutoFit/>
                  </a:bodyPr>
                  <a:lstStyle/>
                  <a:p>
                    <a:pPr marL="100330" eaLnBrk="1" fontAlgn="auto" hangingPunct="1">
                      <a:spcBef>
                        <a:spcPts val="530"/>
                      </a:spcBef>
                      <a:spcAft>
                        <a:spcPts val="0"/>
                      </a:spcAft>
                      <a:defRPr/>
                    </a:pPr>
                    <a:r>
                      <a:rPr sz="1950" kern="0" spc="-110" dirty="0">
                        <a:solidFill>
                          <a:srgbClr val="FFFFFF"/>
                        </a:solidFill>
                        <a:latin typeface="Tahoma"/>
                        <a:cs typeface="Tahoma"/>
                      </a:rPr>
                      <a:t>DATABASE</a:t>
                    </a:r>
                    <a:r>
                      <a:rPr sz="1950" kern="0" spc="-30" dirty="0">
                        <a:solidFill>
                          <a:srgbClr val="FFFFFF"/>
                        </a:solidFill>
                        <a:latin typeface="Tahoma"/>
                        <a:cs typeface="Tahoma"/>
                      </a:rPr>
                      <a:t> </a:t>
                    </a:r>
                    <a:r>
                      <a:rPr sz="1950" kern="0" spc="-10" dirty="0">
                        <a:solidFill>
                          <a:srgbClr val="FFFFFF"/>
                        </a:solidFill>
                        <a:latin typeface="Tahoma"/>
                        <a:cs typeface="Tahoma"/>
                      </a:rPr>
                      <a:t>STRUCTURE</a:t>
                    </a:r>
                    <a:endParaRPr sz="1950" kern="0">
                      <a:solidFill>
                        <a:sysClr val="windowText" lastClr="000000"/>
                      </a:solidFill>
                      <a:latin typeface="Tahoma"/>
                      <a:cs typeface="Tahoma"/>
                    </a:endParaRPr>
                  </a:p>
                </p:txBody>
              </p:sp>
            </p:grpSp>
            <p:grpSp>
              <p:nvGrpSpPr>
                <p:cNvPr id="126" name="Group 125">
                  <a:extLst>
                    <a:ext uri="{FF2B5EF4-FFF2-40B4-BE49-F238E27FC236}">
                      <a16:creationId xmlns:a16="http://schemas.microsoft.com/office/drawing/2014/main" id="{7841DE6F-EB4E-FB07-DB57-BA6129DCF9F3}"/>
                    </a:ext>
                  </a:extLst>
                </p:cNvPr>
                <p:cNvGrpSpPr/>
                <p:nvPr/>
              </p:nvGrpSpPr>
              <p:grpSpPr>
                <a:xfrm>
                  <a:off x="8182430" y="9793464"/>
                  <a:ext cx="6521698" cy="5251073"/>
                  <a:chOff x="8099542" y="9779377"/>
                  <a:chExt cx="6521698" cy="5251073"/>
                </a:xfrm>
              </p:grpSpPr>
              <p:sp>
                <p:nvSpPr>
                  <p:cNvPr id="98" name="Rectangle 5">
                    <a:extLst>
                      <a:ext uri="{FF2B5EF4-FFF2-40B4-BE49-F238E27FC236}">
                        <a16:creationId xmlns:a16="http://schemas.microsoft.com/office/drawing/2014/main" id="{9AFEBC87-503D-1DC4-F6CF-B496237A0717}"/>
                      </a:ext>
                    </a:extLst>
                  </p:cNvPr>
                  <p:cNvSpPr>
                    <a:spLocks noChangeArrowheads="1"/>
                  </p:cNvSpPr>
                  <p:nvPr/>
                </p:nvSpPr>
                <p:spPr bwMode="auto">
                  <a:xfrm>
                    <a:off x="8099542" y="9779377"/>
                    <a:ext cx="2997937"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800"/>
                      </a:spcAft>
                      <a:buClrTx/>
                      <a:buSzTx/>
                      <a:buFontTx/>
                      <a:buNone/>
                      <a:tabLst/>
                    </a:pPr>
                    <a:r>
                      <a:rPr kumimoji="0" lang="en-US" altLang="en-US" sz="16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Tables ( 15 total )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rPr>
                      <a:t>roles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rPr>
                      <a:t>users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rPr>
                      <a:t>customers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rPr>
                      <a:t>categories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menu_items</a:t>
                    </a:r>
                    <a:endPar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rPr>
                      <a:t>orders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order_details</a:t>
                    </a:r>
                    <a:endPar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books_inventory</a:t>
                    </a:r>
                    <a:endPar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book_copies</a:t>
                    </a:r>
                    <a:endPar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book_borrow_transactions</a:t>
                    </a:r>
                    <a:endPar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rPr>
                      <a:t>suppliers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supplied_items</a:t>
                    </a:r>
                    <a:endPar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daily_sales_summary</a:t>
                    </a:r>
                    <a:endPar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a:ln>
                          <a:noFill/>
                        </a:ln>
                        <a:solidFill>
                          <a:schemeClr val="tx1"/>
                        </a:solidFill>
                        <a:effectLst/>
                        <a:latin typeface="Lucida Sans Unicode" panose="020B0602030504020204" pitchFamily="34" charset="0"/>
                        <a:cs typeface="Lucida Sans Unicode" panose="020B0602030504020204" pitchFamily="34" charset="0"/>
                      </a:rPr>
                      <a:t>notifications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500" b="0" i="0" u="none" strike="noStrike" cap="none" normalizeH="0" baseline="0" dirty="0" err="1">
                        <a:ln>
                          <a:noFill/>
                        </a:ln>
                        <a:solidFill>
                          <a:schemeClr val="tx1"/>
                        </a:solidFill>
                        <a:effectLst/>
                        <a:latin typeface="Lucida Sans Unicode" panose="020B0602030504020204" pitchFamily="34" charset="0"/>
                        <a:cs typeface="Lucida Sans Unicode" panose="020B0602030504020204" pitchFamily="34" charset="0"/>
                      </a:rPr>
                      <a:t>notification_recipients</a:t>
                    </a:r>
                    <a:endParaRPr lang="en-US" altLang="en-US" sz="1500" dirty="0">
                      <a:latin typeface="Lucida Sans Unicode" panose="020B0602030504020204" pitchFamily="34" charset="0"/>
                      <a:cs typeface="Lucida Sans Unicode" panose="020B0602030504020204" pitchFamily="34" charset="0"/>
                    </a:endParaRPr>
                  </a:p>
                </p:txBody>
              </p:sp>
              <p:grpSp>
                <p:nvGrpSpPr>
                  <p:cNvPr id="125" name="Group 124">
                    <a:extLst>
                      <a:ext uri="{FF2B5EF4-FFF2-40B4-BE49-F238E27FC236}">
                        <a16:creationId xmlns:a16="http://schemas.microsoft.com/office/drawing/2014/main" id="{2833E51B-273A-7F34-67FA-FBE7CFB2D233}"/>
                      </a:ext>
                    </a:extLst>
                  </p:cNvPr>
                  <p:cNvGrpSpPr/>
                  <p:nvPr/>
                </p:nvGrpSpPr>
                <p:grpSpPr>
                  <a:xfrm>
                    <a:off x="8253284" y="9877521"/>
                    <a:ext cx="6367956" cy="5152929"/>
                    <a:chOff x="8253284" y="9651322"/>
                    <a:chExt cx="6367956" cy="5152929"/>
                  </a:xfrm>
                </p:grpSpPr>
                <p:pic>
                  <p:nvPicPr>
                    <p:cNvPr id="101" name="Picture 100">
                      <a:extLst>
                        <a:ext uri="{FF2B5EF4-FFF2-40B4-BE49-F238E27FC236}">
                          <a16:creationId xmlns:a16="http://schemas.microsoft.com/office/drawing/2014/main" id="{C14BBF67-02DC-207F-B2E3-5FD63CD3254D}"/>
                        </a:ext>
                      </a:extLst>
                    </p:cNvPr>
                    <p:cNvPicPr>
                      <a:picLocks noChangeAspect="1"/>
                    </p:cNvPicPr>
                    <p:nvPr/>
                  </p:nvPicPr>
                  <p:blipFill>
                    <a:blip r:embed="rId11"/>
                    <a:stretch>
                      <a:fillRect/>
                    </a:stretch>
                  </p:blipFill>
                  <p:spPr>
                    <a:xfrm>
                      <a:off x="12245240" y="9651322"/>
                      <a:ext cx="1440000" cy="2646377"/>
                    </a:xfrm>
                    <a:prstGeom prst="rect">
                      <a:avLst/>
                    </a:prstGeom>
                  </p:spPr>
                </p:pic>
                <p:pic>
                  <p:nvPicPr>
                    <p:cNvPr id="105" name="Picture 104">
                      <a:extLst>
                        <a:ext uri="{FF2B5EF4-FFF2-40B4-BE49-F238E27FC236}">
                          <a16:creationId xmlns:a16="http://schemas.microsoft.com/office/drawing/2014/main" id="{A303682F-1096-8FD8-9D6E-EFACCAD2F1F8}"/>
                        </a:ext>
                      </a:extLst>
                    </p:cNvPr>
                    <p:cNvPicPr>
                      <a:picLocks noChangeAspect="1"/>
                    </p:cNvPicPr>
                    <p:nvPr/>
                  </p:nvPicPr>
                  <p:blipFill>
                    <a:blip r:embed="rId12"/>
                    <a:stretch>
                      <a:fillRect/>
                    </a:stretch>
                  </p:blipFill>
                  <p:spPr>
                    <a:xfrm>
                      <a:off x="11309240" y="12537002"/>
                      <a:ext cx="3312000" cy="1133051"/>
                    </a:xfrm>
                    <a:prstGeom prst="rect">
                      <a:avLst/>
                    </a:prstGeom>
                  </p:spPr>
                </p:pic>
                <p:grpSp>
                  <p:nvGrpSpPr>
                    <p:cNvPr id="111" name="Group 110">
                      <a:extLst>
                        <a:ext uri="{FF2B5EF4-FFF2-40B4-BE49-F238E27FC236}">
                          <a16:creationId xmlns:a16="http://schemas.microsoft.com/office/drawing/2014/main" id="{82C7995B-711E-ECBB-17D3-13173C5811E5}"/>
                        </a:ext>
                      </a:extLst>
                    </p:cNvPr>
                    <p:cNvGrpSpPr/>
                    <p:nvPr/>
                  </p:nvGrpSpPr>
                  <p:grpSpPr>
                    <a:xfrm>
                      <a:off x="8253284" y="13868251"/>
                      <a:ext cx="6367956" cy="936000"/>
                      <a:chOff x="8592735" y="16039663"/>
                      <a:chExt cx="6367956" cy="936000"/>
                    </a:xfrm>
                  </p:grpSpPr>
                  <p:pic>
                    <p:nvPicPr>
                      <p:cNvPr id="103" name="Picture 102">
                        <a:extLst>
                          <a:ext uri="{FF2B5EF4-FFF2-40B4-BE49-F238E27FC236}">
                            <a16:creationId xmlns:a16="http://schemas.microsoft.com/office/drawing/2014/main" id="{D92217DE-7FBE-2A91-2CFD-1AEFC56E664F}"/>
                          </a:ext>
                        </a:extLst>
                      </p:cNvPr>
                      <p:cNvPicPr>
                        <a:picLocks noChangeAspect="1"/>
                      </p:cNvPicPr>
                      <p:nvPr/>
                    </p:nvPicPr>
                    <p:blipFill>
                      <a:blip r:embed="rId13"/>
                      <a:stretch>
                        <a:fillRect/>
                      </a:stretch>
                    </p:blipFill>
                    <p:spPr>
                      <a:xfrm>
                        <a:off x="12121494" y="16039663"/>
                        <a:ext cx="2839197" cy="936000"/>
                      </a:xfrm>
                      <a:prstGeom prst="rect">
                        <a:avLst/>
                      </a:prstGeom>
                    </p:spPr>
                  </p:pic>
                  <p:pic>
                    <p:nvPicPr>
                      <p:cNvPr id="107" name="Picture 106">
                        <a:extLst>
                          <a:ext uri="{FF2B5EF4-FFF2-40B4-BE49-F238E27FC236}">
                            <a16:creationId xmlns:a16="http://schemas.microsoft.com/office/drawing/2014/main" id="{074CD231-B96F-1B88-64FB-66DBA993DD61}"/>
                          </a:ext>
                        </a:extLst>
                      </p:cNvPr>
                      <p:cNvPicPr>
                        <a:picLocks noChangeAspect="1"/>
                      </p:cNvPicPr>
                      <p:nvPr/>
                    </p:nvPicPr>
                    <p:blipFill>
                      <a:blip r:embed="rId14"/>
                      <a:stretch>
                        <a:fillRect/>
                      </a:stretch>
                    </p:blipFill>
                    <p:spPr>
                      <a:xfrm>
                        <a:off x="8592735" y="16039663"/>
                        <a:ext cx="3253711" cy="936000"/>
                      </a:xfrm>
                      <a:prstGeom prst="rect">
                        <a:avLst/>
                      </a:prstGeom>
                    </p:spPr>
                  </p:pic>
                </p:grpSp>
              </p:grpSp>
            </p:grpSp>
          </p:grpSp>
        </p:grpSp>
        <p:grpSp>
          <p:nvGrpSpPr>
            <p:cNvPr id="124" name="Group 123">
              <a:extLst>
                <a:ext uri="{FF2B5EF4-FFF2-40B4-BE49-F238E27FC236}">
                  <a16:creationId xmlns:a16="http://schemas.microsoft.com/office/drawing/2014/main" id="{2E0297FB-99CA-F40F-3C03-676151CBFF6D}"/>
                </a:ext>
              </a:extLst>
            </p:cNvPr>
            <p:cNvGrpSpPr/>
            <p:nvPr/>
          </p:nvGrpSpPr>
          <p:grpSpPr>
            <a:xfrm>
              <a:off x="7931394" y="15640050"/>
              <a:ext cx="7020000" cy="2786086"/>
              <a:chOff x="7931394" y="15336817"/>
              <a:chExt cx="7020000" cy="2786086"/>
            </a:xfrm>
          </p:grpSpPr>
          <p:grpSp>
            <p:nvGrpSpPr>
              <p:cNvPr id="118" name="Group 117">
                <a:extLst>
                  <a:ext uri="{FF2B5EF4-FFF2-40B4-BE49-F238E27FC236}">
                    <a16:creationId xmlns:a16="http://schemas.microsoft.com/office/drawing/2014/main" id="{25E1C3C6-964E-A115-1234-7C18B164EC5E}"/>
                  </a:ext>
                </a:extLst>
              </p:cNvPr>
              <p:cNvGrpSpPr/>
              <p:nvPr/>
            </p:nvGrpSpPr>
            <p:grpSpPr>
              <a:xfrm>
                <a:off x="7931394" y="15336817"/>
                <a:ext cx="7020000" cy="2786086"/>
                <a:chOff x="7932519" y="15349004"/>
                <a:chExt cx="7020000" cy="2786086"/>
              </a:xfrm>
            </p:grpSpPr>
            <p:sp>
              <p:nvSpPr>
                <p:cNvPr id="116" name="object 26">
                  <a:extLst>
                    <a:ext uri="{FF2B5EF4-FFF2-40B4-BE49-F238E27FC236}">
                      <a16:creationId xmlns:a16="http://schemas.microsoft.com/office/drawing/2014/main" id="{58C4AAB1-749B-F753-2017-C8B22020EF15}"/>
                    </a:ext>
                  </a:extLst>
                </p:cNvPr>
                <p:cNvSpPr txBox="1"/>
                <p:nvPr/>
              </p:nvSpPr>
              <p:spPr>
                <a:xfrm>
                  <a:off x="7932519" y="15349004"/>
                  <a:ext cx="7020000" cy="446087"/>
                </a:xfrm>
                <a:prstGeom prst="rect">
                  <a:avLst/>
                </a:prstGeom>
                <a:solidFill>
                  <a:srgbClr val="F4BB66"/>
                </a:solidFill>
              </p:spPr>
              <p:txBody>
                <a:bodyPr lIns="0" tIns="67310" rIns="0" bIns="0">
                  <a:spAutoFit/>
                </a:bodyPr>
                <a:lstStyle/>
                <a:p>
                  <a:pPr marL="100330" eaLnBrk="1" fontAlgn="auto" hangingPunct="1">
                    <a:spcBef>
                      <a:spcPts val="530"/>
                    </a:spcBef>
                    <a:spcAft>
                      <a:spcPts val="0"/>
                    </a:spcAft>
                    <a:defRPr/>
                  </a:pPr>
                  <a:r>
                    <a:rPr sz="1950" kern="0" spc="-10" dirty="0">
                      <a:solidFill>
                        <a:srgbClr val="FFFFFF"/>
                      </a:solidFill>
                      <a:latin typeface="Tahoma"/>
                      <a:cs typeface="Tahoma"/>
                    </a:rPr>
                    <a:t>BENEFITS</a:t>
                  </a:r>
                  <a:endParaRPr sz="1950" kern="0" dirty="0">
                    <a:solidFill>
                      <a:sysClr val="windowText" lastClr="000000"/>
                    </a:solidFill>
                    <a:latin typeface="Tahoma"/>
                    <a:cs typeface="Tahoma"/>
                  </a:endParaRPr>
                </a:p>
              </p:txBody>
            </p:sp>
            <p:sp>
              <p:nvSpPr>
                <p:cNvPr id="117" name="object 27">
                  <a:extLst>
                    <a:ext uri="{FF2B5EF4-FFF2-40B4-BE49-F238E27FC236}">
                      <a16:creationId xmlns:a16="http://schemas.microsoft.com/office/drawing/2014/main" id="{37B0CC92-12E4-DAD9-602F-EF1FDD7B3CE1}"/>
                    </a:ext>
                  </a:extLst>
                </p:cNvPr>
                <p:cNvSpPr txBox="1"/>
                <p:nvPr/>
              </p:nvSpPr>
              <p:spPr>
                <a:xfrm>
                  <a:off x="7932519" y="15795090"/>
                  <a:ext cx="7020000" cy="2340000"/>
                </a:xfrm>
                <a:prstGeom prst="rect">
                  <a:avLst/>
                </a:prstGeom>
                <a:solidFill>
                  <a:srgbClr val="FFFFFF"/>
                </a:solidFill>
              </p:spPr>
              <p:txBody>
                <a:bodyPr lIns="0" tIns="14604" rIns="0" bIns="0">
                  <a:spAutoFit/>
                </a:bodyPr>
                <a:lstStyle/>
                <a:p>
                  <a:pPr marL="391160" eaLnBrk="1" fontAlgn="auto" hangingPunct="1">
                    <a:spcBef>
                      <a:spcPts val="15"/>
                    </a:spcBef>
                    <a:spcAft>
                      <a:spcPts val="0"/>
                    </a:spcAft>
                    <a:tabLst>
                      <a:tab pos="614045" algn="l"/>
                    </a:tabLst>
                    <a:defRPr/>
                  </a:pPr>
                  <a:endParaRPr sz="1550" kern="0" dirty="0">
                    <a:solidFill>
                      <a:sysClr val="windowText" lastClr="000000"/>
                    </a:solidFill>
                    <a:latin typeface="Lucida Sans Unicode"/>
                    <a:cs typeface="Lucida Sans Unicode"/>
                  </a:endParaRPr>
                </a:p>
              </p:txBody>
            </p:sp>
          </p:grpSp>
          <p:sp>
            <p:nvSpPr>
              <p:cNvPr id="120" name="TextBox 119">
                <a:extLst>
                  <a:ext uri="{FF2B5EF4-FFF2-40B4-BE49-F238E27FC236}">
                    <a16:creationId xmlns:a16="http://schemas.microsoft.com/office/drawing/2014/main" id="{26537F56-AC30-C8D8-0FB0-6711DBA7773E}"/>
                  </a:ext>
                </a:extLst>
              </p:cNvPr>
              <p:cNvSpPr txBox="1"/>
              <p:nvPr/>
            </p:nvSpPr>
            <p:spPr>
              <a:xfrm>
                <a:off x="8374020" y="16047367"/>
                <a:ext cx="6120000" cy="1811073"/>
              </a:xfrm>
              <a:prstGeom prst="rect">
                <a:avLst/>
              </a:prstGeom>
              <a:noFill/>
            </p:spPr>
            <p:txBody>
              <a:bodyPr wrap="square">
                <a:spAutoFit/>
              </a:bodyPr>
              <a:lstStyle/>
              <a:p>
                <a:pPr marL="342900" lvl="0" indent="-342900">
                  <a:lnSpc>
                    <a:spcPct val="107000"/>
                  </a:lnSpc>
                  <a:spcAft>
                    <a:spcPts val="800"/>
                  </a:spcAft>
                  <a:buFont typeface="+mj-lt"/>
                  <a:buAutoNum type="arabicPeriod"/>
                  <a:tabLst>
                    <a:tab pos="457200" algn="l"/>
                  </a:tabLst>
                </a:pPr>
                <a:r>
                  <a:rPr lang="en-US" sz="1600" b="1" dirty="0">
                    <a:effectLst/>
                    <a:latin typeface="Aptos" panose="020B0004020202020204" pitchFamily="34" charset="0"/>
                    <a:ea typeface="Times New Roman" panose="02020603050405020304" pitchFamily="18" charset="0"/>
                    <a:cs typeface="Arial" panose="020B0604020202020204" pitchFamily="34" charset="0"/>
                  </a:rPr>
                  <a:t>Offline &amp; Fast</a:t>
                </a:r>
                <a:r>
                  <a:rPr lang="en-US" sz="1600" b="1" dirty="0">
                    <a:latin typeface="Aptos" panose="020B0004020202020204" pitchFamily="34" charset="0"/>
                    <a:ea typeface="Times New Roman" panose="02020603050405020304" pitchFamily="18" charset="0"/>
                    <a:cs typeface="Arial" panose="020B0604020202020204" pitchFamily="34" charset="0"/>
                  </a:rPr>
                  <a:t> : </a:t>
                </a:r>
                <a:r>
                  <a:rPr lang="en-US" sz="1600" dirty="0">
                    <a:effectLst/>
                    <a:latin typeface="Aptos" panose="020B0004020202020204" pitchFamily="34" charset="0"/>
                    <a:ea typeface="Times New Roman" panose="02020603050405020304" pitchFamily="18" charset="0"/>
                    <a:cs typeface="Arial" panose="020B0604020202020204" pitchFamily="34" charset="0"/>
                  </a:rPr>
                  <a:t>Runs without internet with quick performance.</a:t>
                </a:r>
                <a:endParaRPr lang="en-US" sz="1600" dirty="0">
                  <a:effectLst/>
                  <a:latin typeface="Aptos" panose="020B00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en-US" sz="1600" b="1" dirty="0">
                    <a:effectLst/>
                    <a:latin typeface="Aptos" panose="020B0004020202020204" pitchFamily="34" charset="0"/>
                    <a:ea typeface="Times New Roman" panose="02020603050405020304" pitchFamily="18" charset="0"/>
                    <a:cs typeface="Arial" panose="020B0604020202020204" pitchFamily="34" charset="0"/>
                  </a:rPr>
                  <a:t>Secure &amp; Reliable</a:t>
                </a:r>
                <a:r>
                  <a:rPr lang="en-US" sz="1600" b="1" dirty="0">
                    <a:latin typeface="Aptos" panose="020B0004020202020204" pitchFamily="34" charset="0"/>
                    <a:ea typeface="Times New Roman" panose="02020603050405020304" pitchFamily="18" charset="0"/>
                    <a:cs typeface="Arial" panose="020B0604020202020204" pitchFamily="34" charset="0"/>
                  </a:rPr>
                  <a:t> : </a:t>
                </a:r>
                <a:r>
                  <a:rPr lang="en-US" sz="1600" dirty="0">
                    <a:effectLst/>
                    <a:latin typeface="Aptos" panose="020B0004020202020204" pitchFamily="34" charset="0"/>
                    <a:ea typeface="Times New Roman" panose="02020603050405020304" pitchFamily="18" charset="0"/>
                    <a:cs typeface="Arial" panose="020B0604020202020204" pitchFamily="34" charset="0"/>
                  </a:rPr>
                  <a:t>Local storage ensures data consistency.</a:t>
                </a:r>
                <a:endParaRPr lang="en-US" sz="1600" dirty="0">
                  <a:effectLst/>
                  <a:latin typeface="Aptos" panose="020B00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en-US" sz="1600" b="1" dirty="0">
                    <a:effectLst/>
                    <a:latin typeface="Aptos" panose="020B0004020202020204" pitchFamily="34" charset="0"/>
                    <a:ea typeface="Times New Roman" panose="02020603050405020304" pitchFamily="18" charset="0"/>
                    <a:cs typeface="Arial" panose="020B0604020202020204" pitchFamily="34" charset="0"/>
                  </a:rPr>
                  <a:t>Customizable </a:t>
                </a:r>
                <a:r>
                  <a:rPr lang="en-US" sz="1600" b="1" dirty="0">
                    <a:latin typeface="Aptos" panose="020B0004020202020204" pitchFamily="34" charset="0"/>
                    <a:ea typeface="Times New Roman" panose="02020603050405020304" pitchFamily="18" charset="0"/>
                    <a:cs typeface="Arial" panose="020B0604020202020204" pitchFamily="34" charset="0"/>
                  </a:rPr>
                  <a:t>: </a:t>
                </a:r>
                <a:r>
                  <a:rPr lang="en-US" sz="1600" dirty="0">
                    <a:effectLst/>
                    <a:latin typeface="Aptos" panose="020B0004020202020204" pitchFamily="34" charset="0"/>
                    <a:ea typeface="Times New Roman" panose="02020603050405020304" pitchFamily="18" charset="0"/>
                    <a:cs typeface="Arial" panose="020B0604020202020204" pitchFamily="34" charset="0"/>
                  </a:rPr>
                  <a:t>Fits both café and book inventory needs.</a:t>
                </a:r>
                <a:endParaRPr lang="en-US" sz="1600" dirty="0">
                  <a:effectLst/>
                  <a:latin typeface="Aptos" panose="020B00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en-US" sz="1600" b="1" dirty="0">
                    <a:effectLst/>
                    <a:latin typeface="Aptos" panose="020B0004020202020204" pitchFamily="34" charset="0"/>
                    <a:ea typeface="Times New Roman" panose="02020603050405020304" pitchFamily="18" charset="0"/>
                    <a:cs typeface="Arial" panose="020B0604020202020204" pitchFamily="34" charset="0"/>
                  </a:rPr>
                  <a:t>Cost-Effective </a:t>
                </a:r>
                <a:r>
                  <a:rPr lang="en-US" sz="1600" b="1" dirty="0">
                    <a:latin typeface="Aptos" panose="020B0004020202020204" pitchFamily="34" charset="0"/>
                    <a:ea typeface="Times New Roman" panose="02020603050405020304" pitchFamily="18" charset="0"/>
                    <a:cs typeface="Arial" panose="020B0604020202020204" pitchFamily="34" charset="0"/>
                  </a:rPr>
                  <a:t>: </a:t>
                </a:r>
                <a:r>
                  <a:rPr lang="en-US" sz="1600" dirty="0">
                    <a:effectLst/>
                    <a:latin typeface="Aptos" panose="020B0004020202020204" pitchFamily="34" charset="0"/>
                    <a:ea typeface="Times New Roman" panose="02020603050405020304" pitchFamily="18" charset="0"/>
                    <a:cs typeface="Arial" panose="020B0604020202020204" pitchFamily="34" charset="0"/>
                  </a:rPr>
                  <a:t>No subscription, one-time installation.</a:t>
                </a:r>
                <a:endParaRPr lang="en-US" sz="1600" dirty="0">
                  <a:effectLst/>
                  <a:latin typeface="Aptos" panose="020B000402020202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tabLst>
                    <a:tab pos="457200" algn="l"/>
                  </a:tabLst>
                </a:pPr>
                <a:r>
                  <a:rPr lang="en-US" sz="1600" b="1" dirty="0">
                    <a:effectLst/>
                    <a:latin typeface="Aptos" panose="020B0004020202020204" pitchFamily="34" charset="0"/>
                    <a:ea typeface="Times New Roman" panose="02020603050405020304" pitchFamily="18" charset="0"/>
                    <a:cs typeface="Arial" panose="020B0604020202020204" pitchFamily="34" charset="0"/>
                  </a:rPr>
                  <a:t>Full Control </a:t>
                </a:r>
                <a:r>
                  <a:rPr lang="en-US" sz="1600" b="1" dirty="0">
                    <a:latin typeface="Aptos" panose="020B0004020202020204" pitchFamily="34" charset="0"/>
                    <a:ea typeface="Times New Roman" panose="02020603050405020304" pitchFamily="18" charset="0"/>
                    <a:cs typeface="Arial" panose="020B0604020202020204" pitchFamily="34" charset="0"/>
                  </a:rPr>
                  <a:t>: </a:t>
                </a:r>
                <a:r>
                  <a:rPr lang="en-US" sz="1600" dirty="0">
                    <a:effectLst/>
                    <a:latin typeface="Aptos" panose="020B0004020202020204" pitchFamily="34" charset="0"/>
                    <a:ea typeface="Times New Roman" panose="02020603050405020304" pitchFamily="18" charset="0"/>
                    <a:cs typeface="Arial" panose="020B0604020202020204" pitchFamily="34" charset="0"/>
                  </a:rPr>
                  <a:t>Café owns system and data fully.</a:t>
                </a:r>
                <a:endParaRPr lang="en-US" sz="1600" dirty="0">
                  <a:effectLst/>
                  <a:latin typeface="Aptos" panose="020B0004020202020204" pitchFamily="34" charset="0"/>
                  <a:ea typeface="Calibri" panose="020F0502020204030204" pitchFamily="34" charset="0"/>
                  <a:cs typeface="Arial" panose="020B0604020202020204" pitchFamily="34" charset="0"/>
                </a:endParaRPr>
              </a:p>
            </p:txBody>
          </p:sp>
        </p:grpSp>
        <p:grpSp>
          <p:nvGrpSpPr>
            <p:cNvPr id="123" name="Group 122">
              <a:extLst>
                <a:ext uri="{FF2B5EF4-FFF2-40B4-BE49-F238E27FC236}">
                  <a16:creationId xmlns:a16="http://schemas.microsoft.com/office/drawing/2014/main" id="{75701868-D0E5-A633-C26F-8DA7DA1F786C}"/>
                </a:ext>
              </a:extLst>
            </p:cNvPr>
            <p:cNvGrpSpPr/>
            <p:nvPr/>
          </p:nvGrpSpPr>
          <p:grpSpPr>
            <a:xfrm>
              <a:off x="7934769" y="18688050"/>
              <a:ext cx="7021587" cy="2484000"/>
              <a:chOff x="7934769" y="18354956"/>
              <a:chExt cx="7021587" cy="2463673"/>
            </a:xfrm>
          </p:grpSpPr>
          <p:sp>
            <p:nvSpPr>
              <p:cNvPr id="121" name="object 10">
                <a:extLst>
                  <a:ext uri="{FF2B5EF4-FFF2-40B4-BE49-F238E27FC236}">
                    <a16:creationId xmlns:a16="http://schemas.microsoft.com/office/drawing/2014/main" id="{4BAC8A4C-0536-E9A9-FCC7-2F2EBE6EBCB7}"/>
                  </a:ext>
                </a:extLst>
              </p:cNvPr>
              <p:cNvSpPr txBox="1"/>
              <p:nvPr/>
            </p:nvSpPr>
            <p:spPr>
              <a:xfrm>
                <a:off x="7936356" y="18354956"/>
                <a:ext cx="7020000" cy="447675"/>
              </a:xfrm>
              <a:prstGeom prst="rect">
                <a:avLst/>
              </a:prstGeom>
              <a:solidFill>
                <a:srgbClr val="F4BB66"/>
              </a:solidFill>
            </p:spPr>
            <p:txBody>
              <a:bodyPr lIns="0" tIns="67945" rIns="0" bIns="0">
                <a:spAutoFit/>
              </a:bodyPr>
              <a:lstStyle/>
              <a:p>
                <a:pPr marL="100330" eaLnBrk="1" fontAlgn="auto" hangingPunct="1">
                  <a:spcBef>
                    <a:spcPts val="535"/>
                  </a:spcBef>
                  <a:spcAft>
                    <a:spcPts val="0"/>
                  </a:spcAft>
                  <a:defRPr/>
                </a:pPr>
                <a:r>
                  <a:rPr sz="1950" kern="0" spc="-10" dirty="0">
                    <a:solidFill>
                      <a:srgbClr val="FFFFFF"/>
                    </a:solidFill>
                    <a:latin typeface="Tahoma"/>
                    <a:cs typeface="Tahoma"/>
                  </a:rPr>
                  <a:t>CONCLUSION</a:t>
                </a:r>
                <a:endParaRPr sz="1950" kern="0">
                  <a:solidFill>
                    <a:sysClr val="windowText" lastClr="000000"/>
                  </a:solidFill>
                  <a:latin typeface="Tahoma"/>
                  <a:cs typeface="Tahoma"/>
                </a:endParaRPr>
              </a:p>
            </p:txBody>
          </p:sp>
          <p:sp>
            <p:nvSpPr>
              <p:cNvPr id="122" name="object 11">
                <a:extLst>
                  <a:ext uri="{FF2B5EF4-FFF2-40B4-BE49-F238E27FC236}">
                    <a16:creationId xmlns:a16="http://schemas.microsoft.com/office/drawing/2014/main" id="{9B1E076D-BB93-D1C7-2362-97E0FB368E5B}"/>
                  </a:ext>
                </a:extLst>
              </p:cNvPr>
              <p:cNvSpPr txBox="1"/>
              <p:nvPr/>
            </p:nvSpPr>
            <p:spPr>
              <a:xfrm>
                <a:off x="7934769" y="18802629"/>
                <a:ext cx="7020000" cy="2016000"/>
              </a:xfrm>
              <a:prstGeom prst="rect">
                <a:avLst/>
              </a:prstGeom>
              <a:solidFill>
                <a:srgbClr val="FFFFFF"/>
              </a:solidFill>
            </p:spPr>
            <p:txBody>
              <a:bodyPr lIns="0" tIns="163195" rIns="0" bIns="0">
                <a:spAutoFit/>
              </a:bodyPr>
              <a:lstStyle>
                <a:lvl1pPr marL="2222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spcBef>
                    <a:spcPts val="1288"/>
                  </a:spcBef>
                </a:pPr>
                <a:r>
                  <a:rPr lang="en-GB" altLang="en-US" dirty="0">
                    <a:solidFill>
                      <a:srgbClr val="000000"/>
                    </a:solidFill>
                    <a:latin typeface="Aptos" panose="020B0004020202020204" pitchFamily="34" charset="0"/>
                  </a:rPr>
                  <a:t>The </a:t>
                </a:r>
                <a:r>
                  <a:rPr lang="en-GB" altLang="en-US" dirty="0" err="1">
                    <a:solidFill>
                      <a:srgbClr val="000000"/>
                    </a:solidFill>
                    <a:latin typeface="Aptos" panose="020B0004020202020204" pitchFamily="34" charset="0"/>
                  </a:rPr>
                  <a:t>CaféHub</a:t>
                </a:r>
                <a:r>
                  <a:rPr lang="en-GB" altLang="en-US" dirty="0">
                    <a:solidFill>
                      <a:srgbClr val="000000"/>
                    </a:solidFill>
                    <a:latin typeface="Aptos" panose="020B0004020202020204" pitchFamily="34" charset="0"/>
                  </a:rPr>
                  <a:t> Management System offers a secure and efficient way to manage café operations. With Java Swing and MySQL, it ensures fast, offline, and reliable performance. It reduces manual errors and improves productivity, making daily operations smoother and more effective.</a:t>
                </a:r>
                <a:endParaRPr lang="en-US" altLang="en-US" sz="1500" dirty="0">
                  <a:solidFill>
                    <a:srgbClr val="000000"/>
                  </a:solidFill>
                  <a:latin typeface="Aptos" panose="020B0004020202020204" pitchFamily="34" charset="0"/>
                  <a:cs typeface="Lucida Sans Unicode" panose="020B0602030504020204" pitchFamily="34" charset="0"/>
                </a:endParaRPr>
              </a:p>
            </p:txBody>
          </p:sp>
        </p:grpSp>
      </p:grpSp>
      <p:pic>
        <p:nvPicPr>
          <p:cNvPr id="7" name="Picture 6">
            <a:extLst>
              <a:ext uri="{FF2B5EF4-FFF2-40B4-BE49-F238E27FC236}">
                <a16:creationId xmlns:a16="http://schemas.microsoft.com/office/drawing/2014/main" id="{D9F54363-CF11-DA0A-D1C9-7C105667C4A5}"/>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131023" y="13529249"/>
            <a:ext cx="1080000" cy="1080000"/>
          </a:xfrm>
          <a:prstGeom prst="rect">
            <a:avLst/>
          </a:prstGeom>
        </p:spPr>
      </p:pic>
      <p:pic>
        <p:nvPicPr>
          <p:cNvPr id="11" name="Picture 10">
            <a:extLst>
              <a:ext uri="{FF2B5EF4-FFF2-40B4-BE49-F238E27FC236}">
                <a16:creationId xmlns:a16="http://schemas.microsoft.com/office/drawing/2014/main" id="{A0D42412-6901-91FC-7036-D14853A6BBA9}"/>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4100187" y="8719254"/>
            <a:ext cx="792000" cy="792000"/>
          </a:xfrm>
          <a:prstGeom prst="rect">
            <a:avLst/>
          </a:prstGeom>
        </p:spPr>
      </p:pic>
      <p:pic>
        <p:nvPicPr>
          <p:cNvPr id="13" name="Picture 12">
            <a:extLst>
              <a:ext uri="{FF2B5EF4-FFF2-40B4-BE49-F238E27FC236}">
                <a16:creationId xmlns:a16="http://schemas.microsoft.com/office/drawing/2014/main" id="{06ECBA0F-C850-25F9-5066-F5F34AA15CA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886975" y="6719124"/>
            <a:ext cx="900000" cy="900000"/>
          </a:xfrm>
          <a:prstGeom prst="rect">
            <a:avLst/>
          </a:prstGeom>
        </p:spPr>
      </p:pic>
      <p:pic>
        <p:nvPicPr>
          <p:cNvPr id="15" name="Picture 14">
            <a:extLst>
              <a:ext uri="{FF2B5EF4-FFF2-40B4-BE49-F238E27FC236}">
                <a16:creationId xmlns:a16="http://schemas.microsoft.com/office/drawing/2014/main" id="{54D07BD8-5830-75FF-BFF3-2681B297E9DE}"/>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6837095" y="3424834"/>
            <a:ext cx="1008000" cy="1008000"/>
          </a:xfrm>
          <a:prstGeom prst="rect">
            <a:avLst/>
          </a:prstGeom>
        </p:spPr>
      </p:pic>
      <p:pic>
        <p:nvPicPr>
          <p:cNvPr id="3" name="Picture 2">
            <a:extLst>
              <a:ext uri="{FF2B5EF4-FFF2-40B4-BE49-F238E27FC236}">
                <a16:creationId xmlns:a16="http://schemas.microsoft.com/office/drawing/2014/main" id="{61622F0D-A21D-9219-3149-E85F73221DB2}"/>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4136187" y="18498977"/>
            <a:ext cx="720000" cy="720000"/>
          </a:xfrm>
          <a:prstGeom prst="rect">
            <a:avLst/>
          </a:prstGeom>
        </p:spPr>
      </p:pic>
      <p:pic>
        <p:nvPicPr>
          <p:cNvPr id="5" name="Picture 4">
            <a:extLst>
              <a:ext uri="{FF2B5EF4-FFF2-40B4-BE49-F238E27FC236}">
                <a16:creationId xmlns:a16="http://schemas.microsoft.com/office/drawing/2014/main" id="{2CC5DBF3-2E52-C62A-2B5B-8B9765414DAB}"/>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flipH="1">
            <a:off x="14136187" y="3563091"/>
            <a:ext cx="720000" cy="720000"/>
          </a:xfrm>
          <a:prstGeom prst="rect">
            <a:avLst/>
          </a:prstGeom>
        </p:spPr>
      </p:pic>
      <p:pic>
        <p:nvPicPr>
          <p:cNvPr id="8" name="Picture 7">
            <a:extLst>
              <a:ext uri="{FF2B5EF4-FFF2-40B4-BE49-F238E27FC236}">
                <a16:creationId xmlns:a16="http://schemas.microsoft.com/office/drawing/2014/main" id="{510FBD08-3758-11A0-028F-492BB98C448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4136187" y="15438978"/>
            <a:ext cx="720000" cy="72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407</Words>
  <Application>Microsoft Office PowerPoint</Application>
  <PresentationFormat>Custom</PresentationFormat>
  <Paragraphs>52</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Symbol</vt:lpstr>
      <vt:lpstr>Arial</vt:lpstr>
      <vt:lpstr>Tahoma</vt:lpstr>
      <vt:lpstr>Calibri</vt:lpstr>
      <vt:lpstr>Tahoma Bold</vt:lpstr>
      <vt:lpstr>Aptos</vt:lpstr>
      <vt:lpstr>Lucida Sans Unicode</vt:lpstr>
      <vt:lpstr>Lucida Bright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Coffee Shop Management System</dc:title>
  <dc:creator>Malak Yazbek</dc:creator>
  <cp:lastModifiedBy>Malak Yazbek</cp:lastModifiedBy>
  <cp:revision>4</cp:revision>
  <dcterms:created xsi:type="dcterms:W3CDTF">2006-08-16T00:00:00Z</dcterms:created>
  <dcterms:modified xsi:type="dcterms:W3CDTF">2025-08-31T18:03:27Z</dcterms:modified>
  <dc:identifier>DAGxounL3zw</dc:identifier>
</cp:coreProperties>
</file>